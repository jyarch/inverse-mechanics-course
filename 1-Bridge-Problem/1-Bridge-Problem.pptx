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handoutMasterIdLst>
    <p:handoutMasterId r:id="rId7"/>
  </p:handoutMasterIdLst>
  <p:sldIdLst>
    <p:sldId id="256" r:id="rId2"/>
    <p:sldId id="257" r:id="rId3"/>
    <p:sldId id="260" r:id="rId4"/>
    <p:sldId id="258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990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ang, Johnson" userId="89424e7b-9fac-45cd-9016-7e93402078f1" providerId="ADAL" clId="{058A9F62-D186-4AF4-91E1-78AFFEA7CB5D}"/>
    <pc:docChg chg="addSld modSld">
      <pc:chgData name="Yang, Johnson" userId="89424e7b-9fac-45cd-9016-7e93402078f1" providerId="ADAL" clId="{058A9F62-D186-4AF4-91E1-78AFFEA7CB5D}" dt="2026-01-07T02:17:55.490" v="6" actId="680"/>
      <pc:docMkLst>
        <pc:docMk/>
      </pc:docMkLst>
      <pc:sldChg chg="modSp mod">
        <pc:chgData name="Yang, Johnson" userId="89424e7b-9fac-45cd-9016-7e93402078f1" providerId="ADAL" clId="{058A9F62-D186-4AF4-91E1-78AFFEA7CB5D}" dt="2026-01-07T02:17:48.653" v="5" actId="20577"/>
        <pc:sldMkLst>
          <pc:docMk/>
          <pc:sldMk cId="2383413940" sldId="256"/>
        </pc:sldMkLst>
        <pc:spChg chg="mod">
          <ac:chgData name="Yang, Johnson" userId="89424e7b-9fac-45cd-9016-7e93402078f1" providerId="ADAL" clId="{058A9F62-D186-4AF4-91E1-78AFFEA7CB5D}" dt="2026-01-07T02:17:48.653" v="5" actId="20577"/>
          <ac:spMkLst>
            <pc:docMk/>
            <pc:sldMk cId="2383413940" sldId="256"/>
            <ac:spMk id="3" creationId="{D4943E14-DE0D-71F7-5C56-EBBE51840036}"/>
          </ac:spMkLst>
        </pc:spChg>
      </pc:sldChg>
      <pc:sldChg chg="new">
        <pc:chgData name="Yang, Johnson" userId="89424e7b-9fac-45cd-9016-7e93402078f1" providerId="ADAL" clId="{058A9F62-D186-4AF4-91E1-78AFFEA7CB5D}" dt="2026-01-07T02:17:55.490" v="6" actId="680"/>
        <pc:sldMkLst>
          <pc:docMk/>
          <pc:sldMk cId="3825483197" sldId="258"/>
        </pc:sldMkLst>
      </pc:sldChg>
    </pc:docChg>
  </pc:docChgLst>
  <pc:docChgLst>
    <pc:chgData name="Yang, Johnson" userId="89424e7b-9fac-45cd-9016-7e93402078f1" providerId="ADAL" clId="{B180C5B1-A979-45A1-9F77-E194B361D298}"/>
    <pc:docChg chg="undo custSel addSld delSld modSld">
      <pc:chgData name="Yang, Johnson" userId="89424e7b-9fac-45cd-9016-7e93402078f1" providerId="ADAL" clId="{B180C5B1-A979-45A1-9F77-E194B361D298}" dt="2026-01-14T23:41:39.168" v="232" actId="1076"/>
      <pc:docMkLst>
        <pc:docMk/>
      </pc:docMkLst>
      <pc:sldChg chg="modSp mod">
        <pc:chgData name="Yang, Johnson" userId="89424e7b-9fac-45cd-9016-7e93402078f1" providerId="ADAL" clId="{B180C5B1-A979-45A1-9F77-E194B361D298}" dt="2026-01-14T23:38:14.530" v="213" actId="20577"/>
        <pc:sldMkLst>
          <pc:docMk/>
          <pc:sldMk cId="2455786776" sldId="257"/>
        </pc:sldMkLst>
        <pc:spChg chg="mod">
          <ac:chgData name="Yang, Johnson" userId="89424e7b-9fac-45cd-9016-7e93402078f1" providerId="ADAL" clId="{B180C5B1-A979-45A1-9F77-E194B361D298}" dt="2026-01-14T23:36:45.058" v="100" actId="20577"/>
          <ac:spMkLst>
            <pc:docMk/>
            <pc:sldMk cId="2455786776" sldId="257"/>
            <ac:spMk id="2" creationId="{9E2605ED-D038-EF3A-A4F9-DBFE434ED9F0}"/>
          </ac:spMkLst>
        </pc:spChg>
        <pc:spChg chg="mod">
          <ac:chgData name="Yang, Johnson" userId="89424e7b-9fac-45cd-9016-7e93402078f1" providerId="ADAL" clId="{B180C5B1-A979-45A1-9F77-E194B361D298}" dt="2026-01-14T23:38:14.530" v="213" actId="20577"/>
          <ac:spMkLst>
            <pc:docMk/>
            <pc:sldMk cId="2455786776" sldId="257"/>
            <ac:spMk id="3" creationId="{75D931D5-EACD-FEF6-3CF2-2D2C006EBAB6}"/>
          </ac:spMkLst>
        </pc:spChg>
      </pc:sldChg>
      <pc:sldChg chg="addSp modSp mod">
        <pc:chgData name="Yang, Johnson" userId="89424e7b-9fac-45cd-9016-7e93402078f1" providerId="ADAL" clId="{B180C5B1-A979-45A1-9F77-E194B361D298}" dt="2026-01-14T23:39:37.439" v="216" actId="1076"/>
        <pc:sldMkLst>
          <pc:docMk/>
          <pc:sldMk cId="3825483197" sldId="258"/>
        </pc:sldMkLst>
        <pc:picChg chg="add mod">
          <ac:chgData name="Yang, Johnson" userId="89424e7b-9fac-45cd-9016-7e93402078f1" providerId="ADAL" clId="{B180C5B1-A979-45A1-9F77-E194B361D298}" dt="2026-01-14T23:39:37.439" v="216" actId="1076"/>
          <ac:picMkLst>
            <pc:docMk/>
            <pc:sldMk cId="3825483197" sldId="258"/>
            <ac:picMk id="6" creationId="{AEA1D454-A526-E70C-6F26-76E204AD399A}"/>
          </ac:picMkLst>
        </pc:picChg>
      </pc:sldChg>
      <pc:sldChg chg="new del">
        <pc:chgData name="Yang, Johnson" userId="89424e7b-9fac-45cd-9016-7e93402078f1" providerId="ADAL" clId="{B180C5B1-A979-45A1-9F77-E194B361D298}" dt="2026-01-14T23:39:44.415" v="218" actId="680"/>
        <pc:sldMkLst>
          <pc:docMk/>
          <pc:sldMk cId="1703784009" sldId="259"/>
        </pc:sldMkLst>
      </pc:sldChg>
      <pc:sldChg chg="addSp delSp modSp new mod">
        <pc:chgData name="Yang, Johnson" userId="89424e7b-9fac-45cd-9016-7e93402078f1" providerId="ADAL" clId="{B180C5B1-A979-45A1-9F77-E194B361D298}" dt="2026-01-14T23:40:06.257" v="224" actId="1076"/>
        <pc:sldMkLst>
          <pc:docMk/>
          <pc:sldMk cId="3655632260" sldId="259"/>
        </pc:sldMkLst>
        <pc:picChg chg="add del">
          <ac:chgData name="Yang, Johnson" userId="89424e7b-9fac-45cd-9016-7e93402078f1" providerId="ADAL" clId="{B180C5B1-A979-45A1-9F77-E194B361D298}" dt="2026-01-14T23:39:52.807" v="221" actId="22"/>
          <ac:picMkLst>
            <pc:docMk/>
            <pc:sldMk cId="3655632260" sldId="259"/>
            <ac:picMk id="6" creationId="{CE6572C5-3799-9803-3038-E309D91C894E}"/>
          </ac:picMkLst>
        </pc:picChg>
        <pc:picChg chg="add mod">
          <ac:chgData name="Yang, Johnson" userId="89424e7b-9fac-45cd-9016-7e93402078f1" providerId="ADAL" clId="{B180C5B1-A979-45A1-9F77-E194B361D298}" dt="2026-01-14T23:40:06.257" v="224" actId="1076"/>
          <ac:picMkLst>
            <pc:docMk/>
            <pc:sldMk cId="3655632260" sldId="259"/>
            <ac:picMk id="8" creationId="{F4EAA997-D686-0F1D-D19B-785B95529E95}"/>
          </ac:picMkLst>
        </pc:picChg>
      </pc:sldChg>
      <pc:sldChg chg="addSp delSp modSp add mod">
        <pc:chgData name="Yang, Johnson" userId="89424e7b-9fac-45cd-9016-7e93402078f1" providerId="ADAL" clId="{B180C5B1-A979-45A1-9F77-E194B361D298}" dt="2026-01-14T23:41:39.168" v="232" actId="1076"/>
        <pc:sldMkLst>
          <pc:docMk/>
          <pc:sldMk cId="3177618537" sldId="260"/>
        </pc:sldMkLst>
        <pc:spChg chg="mod">
          <ac:chgData name="Yang, Johnson" userId="89424e7b-9fac-45cd-9016-7e93402078f1" providerId="ADAL" clId="{B180C5B1-A979-45A1-9F77-E194B361D298}" dt="2026-01-14T23:40:08.534" v="226" actId="27636"/>
          <ac:spMkLst>
            <pc:docMk/>
            <pc:sldMk cId="3177618537" sldId="260"/>
            <ac:spMk id="2" creationId="{DD10CA0E-F9BF-7C6F-D175-5971F7A9596E}"/>
          </ac:spMkLst>
        </pc:spChg>
        <pc:picChg chg="add mod">
          <ac:chgData name="Yang, Johnson" userId="89424e7b-9fac-45cd-9016-7e93402078f1" providerId="ADAL" clId="{B180C5B1-A979-45A1-9F77-E194B361D298}" dt="2026-01-14T23:41:39.168" v="232" actId="1076"/>
          <ac:picMkLst>
            <pc:docMk/>
            <pc:sldMk cId="3177618537" sldId="260"/>
            <ac:picMk id="6" creationId="{13CCF8AF-BFB5-F127-E393-9B26B4EBA727}"/>
          </ac:picMkLst>
        </pc:picChg>
        <pc:picChg chg="del">
          <ac:chgData name="Yang, Johnson" userId="89424e7b-9fac-45cd-9016-7e93402078f1" providerId="ADAL" clId="{B180C5B1-A979-45A1-9F77-E194B361D298}" dt="2026-01-14T23:40:09.749" v="227" actId="478"/>
          <ac:picMkLst>
            <pc:docMk/>
            <pc:sldMk cId="3177618537" sldId="260"/>
            <ac:picMk id="8" creationId="{4E92E0B2-B7AF-D7F5-7025-1733AAE525E6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1F1D0A3-A730-1EE2-0EEB-262D2495859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25061B-C45A-8208-100E-BF0E11F17D9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E7365E-7303-4AD9-8FBF-4B173A7D9DED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339A9C-34F5-FD66-3D77-9201CDE56DD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0F96CD-00CD-B48B-0097-AC612240508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3DA9F1-9436-46C5-B488-D9A887B455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607370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2898FD-25D5-4BC2-95FB-0E9BA7ACA22E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C8204A-43A9-4FC9-A2DC-0B186264B9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734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5B83BF-BDE2-AA6B-8108-5E2FEF06AB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284BAC-9EB8-77A5-41B2-2256C1C2A5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303387-0FE2-E564-43FF-F31A4EA26E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12/13/2025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1C61C7-5442-CF50-B950-61C9BD371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295DD0-D6BE-ECED-C328-3D9B61B70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F4311-C1C1-468E-90BA-469E1A4937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2880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5AE425-165E-3737-7FBE-3535CBD95C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0576"/>
            <a:ext cx="10515600" cy="55547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9BE21E-E51D-6080-5825-563897BD66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7797"/>
            <a:ext cx="10515600" cy="4351338"/>
          </a:xfrm>
        </p:spPr>
        <p:txBody>
          <a:bodyPr/>
          <a:lstStyle>
            <a:lvl1pPr>
              <a:defRPr sz="2400">
                <a:latin typeface="+mj-lt"/>
              </a:defRPr>
            </a:lvl1pPr>
            <a:lvl2pPr>
              <a:defRPr sz="2400">
                <a:latin typeface="+mj-lt"/>
              </a:defRPr>
            </a:lvl2pPr>
            <a:lvl3pPr>
              <a:defRPr sz="2400">
                <a:latin typeface="+mj-lt"/>
              </a:defRPr>
            </a:lvl3pPr>
            <a:lvl4pPr>
              <a:defRPr sz="2400">
                <a:latin typeface="+mj-lt"/>
              </a:defRPr>
            </a:lvl4pPr>
            <a:lvl5pPr>
              <a:defRPr sz="2400"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91A100-D645-F4E1-28E5-BBB8CA5D6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12/13/2025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A119E5-1140-09D6-FA15-514FCBB1F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1A02A9-98D8-3C8C-ACD9-0CA2D03746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F4311-C1C1-468E-90BA-469E1A493750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E20B2C0-A147-0847-3314-97EDC5BADE5B}"/>
              </a:ext>
            </a:extLst>
          </p:cNvPr>
          <p:cNvCxnSpPr>
            <a:cxnSpLocks/>
          </p:cNvCxnSpPr>
          <p:nvPr userDrawn="1"/>
        </p:nvCxnSpPr>
        <p:spPr>
          <a:xfrm>
            <a:off x="838200" y="1384420"/>
            <a:ext cx="10515600" cy="0"/>
          </a:xfrm>
          <a:prstGeom prst="line">
            <a:avLst/>
          </a:prstGeom>
          <a:ln w="571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25510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B2C710-3A58-541F-9EE1-6ACC818585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A61F84-44D4-3922-AC5C-20E6DA908E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5866C4-1EE6-9480-9079-6BC828CF8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12/13/2025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459E6F-0345-8A58-B119-20A2550415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3046EF-3C8D-3F38-4018-55D7C7970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F4311-C1C1-468E-90BA-469E1A4937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1430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51D329-85DA-B07C-E12C-16C9826310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68D9CE-78AE-8909-F2B1-3EDAAEF510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DBECFD-2F9A-585A-4BC8-CF76781831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36A875-1C2B-541A-32E2-4F0C76751E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12/13/2025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5D93D4-EF1C-7AD2-580C-0C219571E7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875D7B-FEC2-989C-4768-48B721425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F4311-C1C1-468E-90BA-469E1A4937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5778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BA0F2-36A1-80AC-5D22-D8326E94BD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16F371-5C85-6468-F30B-1E15B2F4A3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D45CC8-35A8-CD17-F321-23629FA27C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734A85-473C-A1D9-200C-13EBD0EDADC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678C76E-FBC9-F788-5877-472054A43F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12D9FB0-AB34-2BBB-2693-114DBDFEC0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12/13/2025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7DCF88A-4C7C-8649-BB81-5FC01CEF6C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7408D89-152A-68C2-5CA3-1442CE7A01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F4311-C1C1-468E-90BA-469E1A4937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7550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7EF9F9-ED48-F962-E094-6A48ADD733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A039B6-E1A7-9842-A531-93ABD8F286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12/13/2025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6D6013-F00F-5847-D211-7BA71116F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E32ACB-964A-65B2-8300-32F11CF87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F4311-C1C1-468E-90BA-469E1A4937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5896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7288DB-9434-9BC2-5A2D-9B12AB8093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12/13/2025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0C2EEB0-C498-310B-6266-6E2255B368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B8CB63-56A7-ED6C-2AF3-A1F294FB1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F4311-C1C1-468E-90BA-469E1A4937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41177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5E7A4-BE4F-4FFB-0490-0263A2E46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88E92A-391D-CF28-751B-D09BE0AF89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>
                <a:latin typeface="+mj-lt"/>
              </a:defRPr>
            </a:lvl1pPr>
            <a:lvl2pPr>
              <a:defRPr sz="2800">
                <a:latin typeface="+mj-lt"/>
              </a:defRPr>
            </a:lvl2pPr>
            <a:lvl3pPr>
              <a:defRPr sz="2400">
                <a:latin typeface="+mj-lt"/>
              </a:defRPr>
            </a:lvl3pPr>
            <a:lvl4pPr>
              <a:defRPr sz="2000">
                <a:latin typeface="+mj-lt"/>
              </a:defRPr>
            </a:lvl4pPr>
            <a:lvl5pPr>
              <a:defRPr sz="2000">
                <a:latin typeface="+mj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D52035-7D78-B935-B472-ADF8CE006D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201C41-3CFF-E137-3E3D-3E3A4B37E8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12/13/2025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16B72C-605B-28F5-DBD5-FF7C2974D7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13ACCC-0F6D-879E-E1C6-AA5FF40593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F4311-C1C1-468E-90BA-469E1A4937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78741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3EA17B-1346-132B-EB02-023D96233E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9DF0A36-71C8-4B8A-31BD-FA0772E627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A22865-B8C9-F842-DA8E-C3CA4C3793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293E2E-BEE3-52E2-6CF0-747CF7C48D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12/13/2025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09629B-C04A-F84E-EF41-AE2633D8A5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9AD050-BFD6-F208-F628-E0F487662C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F4311-C1C1-468E-90BA-469E1A4937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065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B3EB96-440B-3C50-4E9B-16BC1F1743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A82686-04C0-4E04-A82B-A50E56F871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64B44A-5310-E86D-A1A2-2394EAE8B9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12/13/2025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67C07B-2854-2FDF-5F5D-2E3649C7AF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DA715D-8A20-D968-9E03-51D36E3CA3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F4311-C1C1-468E-90BA-469E1A4937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02269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A867E8C-C78D-B3F4-6D4E-E88F411F35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DA8BE8-0D63-D2BA-0FEF-841F303BDF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F607E0-BBC8-8A8D-B200-A8DA7D6E9B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12/13/2025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32495D-6ADF-6784-1B78-D4D5F98EEE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E975D2-3B17-A0D0-5A1E-F81CB2B17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F4311-C1C1-468E-90BA-469E1A4937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46359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23DA6B8-C0AC-C79E-FDC5-A2564A21BA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C1698F-AD20-3E68-0D6F-597E259F6F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AC35D4-A9AE-C013-489D-F6428ABCAB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12/13/2025</a:t>
            </a:r>
            <a:endParaRPr lang="en-US" dirty="0">
              <a:latin typeface="+mj-lt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4D4F5E-1593-6FFE-E83C-48F26BF45D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  <a:latin typeface="+mj-lt"/>
              </a:defRPr>
            </a:lvl1pPr>
          </a:lstStyle>
          <a:p>
            <a:endParaRPr lang="en-US" dirty="0">
              <a:latin typeface="+mj-lt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5F2E4D-8C92-74A3-6F6C-4B433AB987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typeface="+mj-lt"/>
              </a:defRPr>
            </a:lvl1pPr>
          </a:lstStyle>
          <a:p>
            <a:fld id="{D95F4311-C1C1-468E-90BA-469E1A493750}" type="slidenum">
              <a:rPr lang="en-US" smtClean="0"/>
              <a:pPr/>
              <a:t>‹#›</a:t>
            </a:fld>
            <a:endParaRPr lang="en-US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600166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5B6D4-DA63-6361-60B3-F26C1FDFF2B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lang="en-US" b="1" dirty="0"/>
              <a:t>Inverse Mechanics</a:t>
            </a:r>
            <a:br>
              <a:rPr lang="en-US" dirty="0"/>
            </a:br>
            <a:r>
              <a:rPr lang="en-US" sz="4800" dirty="0"/>
              <a:t>The Bridge Problem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943E14-DE0D-71F7-5C56-EBBE5184003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lang="en-US" dirty="0"/>
              <a:t>Spring 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B869FF-757C-5CFB-FBEC-2D0DFEBA7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F4311-C1C1-468E-90BA-469E1A49375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34139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2605ED-D038-EF3A-A4F9-DBFE434ED9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Simple Beam Problem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ABA006-5308-7A59-BF22-F9894F4F47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F4311-C1C1-468E-90BA-469E1A493750}" type="slidenum">
              <a:rPr lang="en-US" smtClean="0"/>
              <a:t>2</a:t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E7C57D4-D053-3FA2-D7A3-DA7A25B2B1F7}"/>
                  </a:ext>
                </a:extLst>
              </p:cNvPr>
              <p:cNvSpPr txBox="1"/>
              <p:nvPr/>
            </p:nvSpPr>
            <p:spPr>
              <a:xfrm>
                <a:off x="872175" y="4561532"/>
                <a:ext cx="1235210" cy="52456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𝑚𝑎𝑥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sSup>
                            <m:sSup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p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num>
                        <m:den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48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𝐸𝐼</m:t>
                          </m:r>
                        </m:den>
                      </m:f>
                    </m:oMath>
                  </m:oMathPara>
                </a14:m>
                <a:endParaRPr lang="en-US" sz="1400" dirty="0"/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E7C57D4-D053-3FA2-D7A3-DA7A25B2B1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2175" y="4561532"/>
                <a:ext cx="1235210" cy="52456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389D2F6-3E17-DE2E-7F1C-4EFF1886F0F5}"/>
                  </a:ext>
                </a:extLst>
              </p:cNvPr>
              <p:cNvSpPr txBox="1"/>
              <p:nvPr/>
            </p:nvSpPr>
            <p:spPr>
              <a:xfrm>
                <a:off x="738700" y="1490964"/>
                <a:ext cx="419906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u="sng" dirty="0">
                    <a:latin typeface="+mj-lt"/>
                  </a:rPr>
                  <a:t>Direct Problem</a:t>
                </a:r>
                <a:r>
                  <a:rPr lang="en-US" sz="1400" dirty="0">
                    <a:latin typeface="+mj-lt"/>
                  </a:rPr>
                  <a:t>: Given P = 1kip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1400" dirty="0">
                    <a:latin typeface="+mj-lt"/>
                  </a:rPr>
                  <a:t> find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𝑚𝑎𝑥</m:t>
                        </m:r>
                      </m:sub>
                    </m:sSub>
                  </m:oMath>
                </a14:m>
                <a:endParaRPr lang="en-US" sz="1400" dirty="0"/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389D2F6-3E17-DE2E-7F1C-4EFF1886F0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8700" y="1490964"/>
                <a:ext cx="4199060" cy="307777"/>
              </a:xfrm>
              <a:prstGeom prst="rect">
                <a:avLst/>
              </a:prstGeom>
              <a:blipFill>
                <a:blip r:embed="rId3"/>
                <a:stretch>
                  <a:fillRect l="-435" t="-4000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2" name="Group 61">
            <a:extLst>
              <a:ext uri="{FF2B5EF4-FFF2-40B4-BE49-F238E27FC236}">
                <a16:creationId xmlns:a16="http://schemas.microsoft.com/office/drawing/2014/main" id="{AE732E19-D314-573C-02C7-3C7F65A631BC}"/>
              </a:ext>
            </a:extLst>
          </p:cNvPr>
          <p:cNvGrpSpPr/>
          <p:nvPr/>
        </p:nvGrpSpPr>
        <p:grpSpPr>
          <a:xfrm>
            <a:off x="838200" y="1995445"/>
            <a:ext cx="4228832" cy="2274428"/>
            <a:chOff x="1251331" y="1981432"/>
            <a:chExt cx="3272155" cy="1939433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6E8325AE-DED3-E213-B98C-9A4E3E480D92}"/>
                </a:ext>
              </a:extLst>
            </p:cNvPr>
            <p:cNvCxnSpPr>
              <a:cxnSpLocks/>
            </p:cNvCxnSpPr>
            <p:nvPr/>
          </p:nvCxnSpPr>
          <p:spPr>
            <a:xfrm>
              <a:off x="1251331" y="3148491"/>
              <a:ext cx="3272155" cy="0"/>
            </a:xfrm>
            <a:prstGeom prst="line">
              <a:avLst/>
            </a:prstGeom>
            <a:ln w="571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31EBE27E-CAE8-08A3-2C4D-2A46B6C62D77}"/>
                </a:ext>
              </a:extLst>
            </p:cNvPr>
            <p:cNvSpPr/>
            <p:nvPr/>
          </p:nvSpPr>
          <p:spPr>
            <a:xfrm>
              <a:off x="4189805" y="3148491"/>
              <a:ext cx="268785" cy="287394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Isosceles Triangle 9">
              <a:extLst>
                <a:ext uri="{FF2B5EF4-FFF2-40B4-BE49-F238E27FC236}">
                  <a16:creationId xmlns:a16="http://schemas.microsoft.com/office/drawing/2014/main" id="{931989D5-2FAF-31AE-6ACF-0279BEDE4A17}"/>
                </a:ext>
              </a:extLst>
            </p:cNvPr>
            <p:cNvSpPr/>
            <p:nvPr/>
          </p:nvSpPr>
          <p:spPr>
            <a:xfrm>
              <a:off x="1277620" y="3148491"/>
              <a:ext cx="246888" cy="261741"/>
            </a:xfrm>
            <a:prstGeom prst="triangle">
              <a:avLst/>
            </a:prstGeom>
            <a:solidFill>
              <a:schemeClr val="dk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10F14CBA-F8AE-662F-CF4E-1B6D17206F2C}"/>
                </a:ext>
              </a:extLst>
            </p:cNvPr>
            <p:cNvCxnSpPr/>
            <p:nvPr/>
          </p:nvCxnSpPr>
          <p:spPr>
            <a:xfrm>
              <a:off x="2797315" y="2188370"/>
              <a:ext cx="0" cy="96012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2DD661CD-0A86-1F05-8243-BFCE8068CF65}"/>
                </a:ext>
              </a:extLst>
            </p:cNvPr>
            <p:cNvCxnSpPr>
              <a:cxnSpLocks/>
            </p:cNvCxnSpPr>
            <p:nvPr/>
          </p:nvCxnSpPr>
          <p:spPr>
            <a:xfrm>
              <a:off x="1392891" y="3664365"/>
              <a:ext cx="2907792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42544661-510E-BE9A-2811-6ABFFA9A2BEE}"/>
                </a:ext>
              </a:extLst>
            </p:cNvPr>
            <p:cNvSpPr txBox="1"/>
            <p:nvPr/>
          </p:nvSpPr>
          <p:spPr>
            <a:xfrm>
              <a:off x="2692874" y="3684664"/>
              <a:ext cx="530428" cy="23620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+mj-lt"/>
                </a:rPr>
                <a:t>L = 10ft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9EDFEEE9-4719-B4E5-1D66-29738176C074}"/>
                </a:ext>
              </a:extLst>
            </p:cNvPr>
            <p:cNvSpPr txBox="1"/>
            <p:nvPr/>
          </p:nvSpPr>
          <p:spPr>
            <a:xfrm>
              <a:off x="2591957" y="1981432"/>
              <a:ext cx="70153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+mj-lt"/>
                </a:rPr>
                <a:t>P = 1kip</a:t>
              </a:r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426F3BCA-CD29-8435-C781-AD20DA9B3B44}"/>
                </a:ext>
              </a:extLst>
            </p:cNvPr>
            <p:cNvSpPr/>
            <p:nvPr/>
          </p:nvSpPr>
          <p:spPr>
            <a:xfrm>
              <a:off x="1435608" y="3168789"/>
              <a:ext cx="2812415" cy="397404"/>
            </a:xfrm>
            <a:custGeom>
              <a:avLst/>
              <a:gdLst>
                <a:gd name="csX0" fmla="*/ 0 w 2889504"/>
                <a:gd name="csY0" fmla="*/ 18288 h 420657"/>
                <a:gd name="csX1" fmla="*/ 1399032 w 2889504"/>
                <a:gd name="csY1" fmla="*/ 420624 h 420657"/>
                <a:gd name="csX2" fmla="*/ 2889504 w 2889504"/>
                <a:gd name="csY2" fmla="*/ 0 h 42065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889504" h="420657">
                  <a:moveTo>
                    <a:pt x="0" y="18288"/>
                  </a:moveTo>
                  <a:cubicBezTo>
                    <a:pt x="458724" y="220980"/>
                    <a:pt x="917448" y="423672"/>
                    <a:pt x="1399032" y="420624"/>
                  </a:cubicBezTo>
                  <a:cubicBezTo>
                    <a:pt x="1880616" y="417576"/>
                    <a:pt x="2631948" y="92964"/>
                    <a:pt x="2889504" y="0"/>
                  </a:cubicBezTo>
                </a:path>
              </a:pathLst>
            </a:custGeom>
            <a:ln w="28575">
              <a:solidFill>
                <a:schemeClr val="tx2">
                  <a:lumMod val="50000"/>
                  <a:lumOff val="50000"/>
                </a:schemeClr>
              </a:solidFill>
              <a:prstDash val="sysDash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2BF41112-A617-D58F-2843-A66808D45CAA}"/>
                    </a:ext>
                  </a:extLst>
                </p:cNvPr>
                <p:cNvSpPr txBox="1"/>
                <p:nvPr/>
              </p:nvSpPr>
              <p:spPr>
                <a:xfrm>
                  <a:off x="2709843" y="3216928"/>
                  <a:ext cx="759952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200" b="0" i="0" smtClean="0">
                                <a:solidFill>
                                  <a:schemeClr val="tx2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0" i="1" smtClean="0">
                                <a:solidFill>
                                  <a:schemeClr val="tx2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𝛿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1200" b="0" i="0" smtClean="0">
                                <a:solidFill>
                                  <a:schemeClr val="tx2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max</m:t>
                            </m:r>
                          </m:sub>
                        </m:sSub>
                        <m:r>
                          <a:rPr lang="en-US" sz="1200" b="0" i="0" smtClean="0">
                            <a:solidFill>
                              <a:schemeClr val="tx2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=?</m:t>
                        </m:r>
                      </m:oMath>
                    </m:oMathPara>
                  </a14:m>
                  <a:endParaRPr lang="en-US" sz="1200" dirty="0">
                    <a:solidFill>
                      <a:schemeClr val="tx2">
                        <a:lumMod val="50000"/>
                        <a:lumOff val="50000"/>
                      </a:schemeClr>
                    </a:solidFill>
                    <a:latin typeface="+mj-lt"/>
                  </a:endParaRPr>
                </a:p>
              </p:txBody>
            </p:sp>
          </mc:Choice>
          <mc:Fallback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2BF41112-A617-D58F-2843-A66808D45CA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09843" y="3216928"/>
                  <a:ext cx="759952" cy="276999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5AA1EA16-884C-B146-42BE-6001089CF373}"/>
                </a:ext>
              </a:extLst>
            </p:cNvPr>
            <p:cNvCxnSpPr/>
            <p:nvPr/>
          </p:nvCxnSpPr>
          <p:spPr>
            <a:xfrm>
              <a:off x="1393653" y="3560626"/>
              <a:ext cx="0" cy="207478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061C749F-15B5-98BF-0DA7-19827849CD80}"/>
                </a:ext>
              </a:extLst>
            </p:cNvPr>
            <p:cNvCxnSpPr/>
            <p:nvPr/>
          </p:nvCxnSpPr>
          <p:spPr>
            <a:xfrm>
              <a:off x="4300683" y="3560626"/>
              <a:ext cx="0" cy="207478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D8CBFD8-4CE9-7E51-33C1-DCEA86FD3D3F}"/>
                </a:ext>
              </a:extLst>
            </p:cNvPr>
            <p:cNvCxnSpPr>
              <a:cxnSpLocks/>
              <a:endCxn id="21" idx="1"/>
            </p:cNvCxnSpPr>
            <p:nvPr/>
          </p:nvCxnSpPr>
          <p:spPr>
            <a:xfrm>
              <a:off x="2797315" y="3168789"/>
              <a:ext cx="0" cy="397373"/>
            </a:xfrm>
            <a:prstGeom prst="line">
              <a:avLst/>
            </a:prstGeom>
            <a:ln w="9525">
              <a:solidFill>
                <a:schemeClr val="tx2">
                  <a:lumMod val="50000"/>
                  <a:lumOff val="50000"/>
                </a:schemeClr>
              </a:solidFill>
              <a:prstDash val="dash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572E8742-149B-EF35-A281-96D220FBCDD6}"/>
                  </a:ext>
                </a:extLst>
              </p:cNvPr>
              <p:cNvSpPr txBox="1"/>
              <p:nvPr/>
            </p:nvSpPr>
            <p:spPr>
              <a:xfrm>
                <a:off x="6575371" y="1490963"/>
                <a:ext cx="495940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u="sng" dirty="0">
                    <a:latin typeface="+mj-lt"/>
                  </a:rPr>
                  <a:t>Inverse Problem</a:t>
                </a:r>
                <a:r>
                  <a:rPr lang="en-US" sz="1400" dirty="0">
                    <a:latin typeface="+mj-lt"/>
                  </a:rPr>
                  <a:t>: Given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𝑚𝑎𝑥</m:t>
                        </m:r>
                      </m:sub>
                    </m:sSub>
                  </m:oMath>
                </a14:m>
                <a:r>
                  <a:rPr lang="en-US" sz="1400" dirty="0">
                    <a:latin typeface="+mj-lt"/>
                  </a:rPr>
                  <a:t> = 1in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1400" dirty="0">
                    <a:latin typeface="+mj-lt"/>
                  </a:rPr>
                  <a:t> find P</a:t>
                </a:r>
              </a:p>
            </p:txBody>
          </p:sp>
        </mc:Choice>
        <mc:Fallback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572E8742-149B-EF35-A281-96D220FBCD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5371" y="1490963"/>
                <a:ext cx="4959401" cy="307777"/>
              </a:xfrm>
              <a:prstGeom prst="rect">
                <a:avLst/>
              </a:prstGeom>
              <a:blipFill>
                <a:blip r:embed="rId5"/>
                <a:stretch>
                  <a:fillRect l="-369" t="-4000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3" name="Group 62">
            <a:extLst>
              <a:ext uri="{FF2B5EF4-FFF2-40B4-BE49-F238E27FC236}">
                <a16:creationId xmlns:a16="http://schemas.microsoft.com/office/drawing/2014/main" id="{F687D328-C359-4A67-B44E-B79F060926AB}"/>
              </a:ext>
            </a:extLst>
          </p:cNvPr>
          <p:cNvGrpSpPr/>
          <p:nvPr/>
        </p:nvGrpSpPr>
        <p:grpSpPr>
          <a:xfrm>
            <a:off x="6680880" y="1962562"/>
            <a:ext cx="4228832" cy="2355153"/>
            <a:chOff x="1251331" y="1953394"/>
            <a:chExt cx="3272155" cy="2008269"/>
          </a:xfrm>
        </p:grpSpPr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7F984818-77DA-38E4-ABCD-0E32043DE5E4}"/>
                </a:ext>
              </a:extLst>
            </p:cNvPr>
            <p:cNvCxnSpPr>
              <a:cxnSpLocks/>
            </p:cNvCxnSpPr>
            <p:nvPr/>
          </p:nvCxnSpPr>
          <p:spPr>
            <a:xfrm>
              <a:off x="1251331" y="3148491"/>
              <a:ext cx="3272155" cy="0"/>
            </a:xfrm>
            <a:prstGeom prst="line">
              <a:avLst/>
            </a:prstGeom>
            <a:ln w="571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F8EA4AAC-CD8F-C0A6-D319-F3B5D4C8A0AC}"/>
                </a:ext>
              </a:extLst>
            </p:cNvPr>
            <p:cNvSpPr/>
            <p:nvPr/>
          </p:nvSpPr>
          <p:spPr>
            <a:xfrm>
              <a:off x="4189805" y="3148491"/>
              <a:ext cx="268785" cy="287394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6" name="Isosceles Triangle 65">
              <a:extLst>
                <a:ext uri="{FF2B5EF4-FFF2-40B4-BE49-F238E27FC236}">
                  <a16:creationId xmlns:a16="http://schemas.microsoft.com/office/drawing/2014/main" id="{CFA2031B-C92D-85DD-F287-A8ECAEE7257D}"/>
                </a:ext>
              </a:extLst>
            </p:cNvPr>
            <p:cNvSpPr/>
            <p:nvPr/>
          </p:nvSpPr>
          <p:spPr>
            <a:xfrm>
              <a:off x="1277620" y="3148491"/>
              <a:ext cx="246888" cy="261741"/>
            </a:xfrm>
            <a:prstGeom prst="triangle">
              <a:avLst/>
            </a:prstGeom>
            <a:solidFill>
              <a:schemeClr val="dk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7" name="Straight Arrow Connector 66">
              <a:extLst>
                <a:ext uri="{FF2B5EF4-FFF2-40B4-BE49-F238E27FC236}">
                  <a16:creationId xmlns:a16="http://schemas.microsoft.com/office/drawing/2014/main" id="{B2A66B8F-E335-FB45-A60A-B23BB6D32856}"/>
                </a:ext>
              </a:extLst>
            </p:cNvPr>
            <p:cNvCxnSpPr/>
            <p:nvPr/>
          </p:nvCxnSpPr>
          <p:spPr>
            <a:xfrm>
              <a:off x="2797315" y="2188372"/>
              <a:ext cx="0" cy="96012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84FA15A2-16FB-1ED2-F415-B895229E7419}"/>
                </a:ext>
              </a:extLst>
            </p:cNvPr>
            <p:cNvCxnSpPr>
              <a:cxnSpLocks/>
            </p:cNvCxnSpPr>
            <p:nvPr/>
          </p:nvCxnSpPr>
          <p:spPr>
            <a:xfrm>
              <a:off x="1392891" y="3664365"/>
              <a:ext cx="2907792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53B60F15-4065-29D3-FDD6-D6575322FC2C}"/>
                </a:ext>
              </a:extLst>
            </p:cNvPr>
            <p:cNvSpPr txBox="1"/>
            <p:nvPr/>
          </p:nvSpPr>
          <p:spPr>
            <a:xfrm>
              <a:off x="2692874" y="3684664"/>
              <a:ext cx="61427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+mj-lt"/>
                </a:rPr>
                <a:t>L=10ft</a:t>
              </a: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ABC2E441-7F9B-AF24-B56B-47E9FF3F9ACE}"/>
                </a:ext>
              </a:extLst>
            </p:cNvPr>
            <p:cNvSpPr txBox="1"/>
            <p:nvPr/>
          </p:nvSpPr>
          <p:spPr>
            <a:xfrm>
              <a:off x="2615944" y="1953394"/>
              <a:ext cx="384065" cy="23620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+mj-lt"/>
                </a:rPr>
                <a:t>P = ?</a:t>
              </a:r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2F31DEE6-E171-28A5-0EE3-7FA96FC22B59}"/>
                </a:ext>
              </a:extLst>
            </p:cNvPr>
            <p:cNvSpPr/>
            <p:nvPr/>
          </p:nvSpPr>
          <p:spPr>
            <a:xfrm>
              <a:off x="1435608" y="3168789"/>
              <a:ext cx="2812415" cy="397404"/>
            </a:xfrm>
            <a:custGeom>
              <a:avLst/>
              <a:gdLst>
                <a:gd name="csX0" fmla="*/ 0 w 2889504"/>
                <a:gd name="csY0" fmla="*/ 18288 h 420657"/>
                <a:gd name="csX1" fmla="*/ 1399032 w 2889504"/>
                <a:gd name="csY1" fmla="*/ 420624 h 420657"/>
                <a:gd name="csX2" fmla="*/ 2889504 w 2889504"/>
                <a:gd name="csY2" fmla="*/ 0 h 42065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889504" h="420657">
                  <a:moveTo>
                    <a:pt x="0" y="18288"/>
                  </a:moveTo>
                  <a:cubicBezTo>
                    <a:pt x="458724" y="220980"/>
                    <a:pt x="917448" y="423672"/>
                    <a:pt x="1399032" y="420624"/>
                  </a:cubicBezTo>
                  <a:cubicBezTo>
                    <a:pt x="1880616" y="417576"/>
                    <a:pt x="2631948" y="92964"/>
                    <a:pt x="2889504" y="0"/>
                  </a:cubicBezTo>
                </a:path>
              </a:pathLst>
            </a:custGeom>
            <a:ln w="28575">
              <a:solidFill>
                <a:schemeClr val="tx1"/>
              </a:solidFill>
              <a:prstDash val="sysDash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2" name="TextBox 71">
                  <a:extLst>
                    <a:ext uri="{FF2B5EF4-FFF2-40B4-BE49-F238E27FC236}">
                      <a16:creationId xmlns:a16="http://schemas.microsoft.com/office/drawing/2014/main" id="{A5F60896-810A-7BAB-7C8D-258D04A25AAF}"/>
                    </a:ext>
                  </a:extLst>
                </p:cNvPr>
                <p:cNvSpPr txBox="1"/>
                <p:nvPr/>
              </p:nvSpPr>
              <p:spPr>
                <a:xfrm>
                  <a:off x="2773259" y="3220756"/>
                  <a:ext cx="736476" cy="23620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2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𝛿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12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max</m:t>
                            </m:r>
                          </m:sub>
                        </m:sSub>
                        <m:r>
                          <a:rPr lang="en-US" sz="12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  <m:r>
                          <m:rPr>
                            <m:sty m:val="p"/>
                          </m:rPr>
                          <a:rPr lang="en-US" sz="12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in</m:t>
                        </m:r>
                      </m:oMath>
                    </m:oMathPara>
                  </a14:m>
                  <a:endParaRPr lang="en-US" sz="1200" dirty="0">
                    <a:solidFill>
                      <a:schemeClr val="tx1"/>
                    </a:solidFill>
                    <a:latin typeface="+mj-lt"/>
                  </a:endParaRPr>
                </a:p>
              </p:txBody>
            </p:sp>
          </mc:Choice>
          <mc:Fallback>
            <p:sp>
              <p:nvSpPr>
                <p:cNvPr id="72" name="TextBox 71">
                  <a:extLst>
                    <a:ext uri="{FF2B5EF4-FFF2-40B4-BE49-F238E27FC236}">
                      <a16:creationId xmlns:a16="http://schemas.microsoft.com/office/drawing/2014/main" id="{A5F60896-810A-7BAB-7C8D-258D04A25AA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73259" y="3220756"/>
                  <a:ext cx="736476" cy="236201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94C6BA57-4095-D68D-45CF-C75AA8333428}"/>
                </a:ext>
              </a:extLst>
            </p:cNvPr>
            <p:cNvCxnSpPr/>
            <p:nvPr/>
          </p:nvCxnSpPr>
          <p:spPr>
            <a:xfrm>
              <a:off x="1393653" y="3560626"/>
              <a:ext cx="0" cy="207478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6B1F8530-09BC-5B4A-2E3C-5F0B18B3039C}"/>
                </a:ext>
              </a:extLst>
            </p:cNvPr>
            <p:cNvCxnSpPr/>
            <p:nvPr/>
          </p:nvCxnSpPr>
          <p:spPr>
            <a:xfrm>
              <a:off x="4300683" y="3560626"/>
              <a:ext cx="0" cy="207478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07106F11-AA8B-A69F-EE37-D4F4DDDAC314}"/>
                </a:ext>
              </a:extLst>
            </p:cNvPr>
            <p:cNvCxnSpPr>
              <a:cxnSpLocks/>
              <a:endCxn id="71" idx="1"/>
            </p:cNvCxnSpPr>
            <p:nvPr/>
          </p:nvCxnSpPr>
          <p:spPr>
            <a:xfrm>
              <a:off x="2797315" y="3168789"/>
              <a:ext cx="0" cy="397373"/>
            </a:xfrm>
            <a:prstGeom prst="line">
              <a:avLst/>
            </a:prstGeom>
            <a:ln w="9525">
              <a:solidFill>
                <a:schemeClr val="tx1"/>
              </a:solidFill>
              <a:prstDash val="dash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68DF0B13-A518-BEFF-CE6D-5EF6A76717A9}"/>
                  </a:ext>
                </a:extLst>
              </p:cNvPr>
              <p:cNvSpPr txBox="1"/>
              <p:nvPr/>
            </p:nvSpPr>
            <p:spPr>
              <a:xfrm>
                <a:off x="7260422" y="4584230"/>
                <a:ext cx="1350178" cy="5018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48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𝐸𝐼</m:t>
                          </m:r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𝑚𝑎𝑥</m:t>
                              </m:r>
                            </m:sub>
                          </m:sSub>
                        </m:num>
                        <m:den>
                          <m:sSup>
                            <m:sSup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p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1400" dirty="0"/>
              </a:p>
            </p:txBody>
          </p:sp>
        </mc:Choice>
        <mc:Fallback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68DF0B13-A518-BEFF-CE6D-5EF6A76717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0422" y="4584230"/>
                <a:ext cx="1350178" cy="501869"/>
              </a:xfrm>
              <a:prstGeom prst="rect">
                <a:avLst/>
              </a:prstGeom>
              <a:blipFill>
                <a:blip r:embed="rId7"/>
                <a:stretch>
                  <a:fillRect b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7" name="TextBox 76">
            <a:extLst>
              <a:ext uri="{FF2B5EF4-FFF2-40B4-BE49-F238E27FC236}">
                <a16:creationId xmlns:a16="http://schemas.microsoft.com/office/drawing/2014/main" id="{4F38A6A8-6171-2482-C2D7-D72D2C201188}"/>
              </a:ext>
            </a:extLst>
          </p:cNvPr>
          <p:cNvSpPr txBox="1"/>
          <p:nvPr/>
        </p:nvSpPr>
        <p:spPr>
          <a:xfrm>
            <a:off x="838200" y="6048375"/>
            <a:ext cx="39805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This is a well-posed inverse problem.</a:t>
            </a:r>
          </a:p>
        </p:txBody>
      </p:sp>
    </p:spTree>
    <p:extLst>
      <p:ext uri="{BB962C8B-B14F-4D97-AF65-F5344CB8AC3E}">
        <p14:creationId xmlns:p14="http://schemas.microsoft.com/office/powerpoint/2010/main" val="24557867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D1E7E0-B8AA-30E0-9452-E9D317D14C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2793A7-6F8A-798D-4F96-84F964CD5B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Simple Beam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864F45-3F08-A37F-BBFB-3B98B2D8BA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Discussion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2DED1B-281C-93F4-963B-E8B138A4AF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F4311-C1C1-468E-90BA-469E1A493750}" type="slidenum">
              <a:rPr lang="en-US" smtClean="0"/>
              <a:t>3</a:t>
            </a:fld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0CB4E61-06EA-0719-076A-7328358A227E}"/>
              </a:ext>
            </a:extLst>
          </p:cNvPr>
          <p:cNvGrpSpPr/>
          <p:nvPr/>
        </p:nvGrpSpPr>
        <p:grpSpPr>
          <a:xfrm>
            <a:off x="3547155" y="2829374"/>
            <a:ext cx="4228832" cy="2316797"/>
            <a:chOff x="1251331" y="1945303"/>
            <a:chExt cx="3272155" cy="1975562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A46970CD-574B-A52A-65DD-A20C8EE8493C}"/>
                </a:ext>
              </a:extLst>
            </p:cNvPr>
            <p:cNvCxnSpPr>
              <a:cxnSpLocks/>
            </p:cNvCxnSpPr>
            <p:nvPr/>
          </p:nvCxnSpPr>
          <p:spPr>
            <a:xfrm>
              <a:off x="1251331" y="3148491"/>
              <a:ext cx="3272155" cy="0"/>
            </a:xfrm>
            <a:prstGeom prst="line">
              <a:avLst/>
            </a:prstGeom>
            <a:ln w="571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04CA41A5-A6CB-9586-B9C9-4B9441D21820}"/>
                </a:ext>
              </a:extLst>
            </p:cNvPr>
            <p:cNvSpPr/>
            <p:nvPr/>
          </p:nvSpPr>
          <p:spPr>
            <a:xfrm>
              <a:off x="4189805" y="3148491"/>
              <a:ext cx="268785" cy="287394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Isosceles Triangle 8">
              <a:extLst>
                <a:ext uri="{FF2B5EF4-FFF2-40B4-BE49-F238E27FC236}">
                  <a16:creationId xmlns:a16="http://schemas.microsoft.com/office/drawing/2014/main" id="{F3FD6BB4-194D-40D2-04D6-EAC7DA15FFED}"/>
                </a:ext>
              </a:extLst>
            </p:cNvPr>
            <p:cNvSpPr/>
            <p:nvPr/>
          </p:nvSpPr>
          <p:spPr>
            <a:xfrm>
              <a:off x="1277620" y="3148491"/>
              <a:ext cx="246888" cy="261741"/>
            </a:xfrm>
            <a:prstGeom prst="triangle">
              <a:avLst/>
            </a:prstGeom>
            <a:solidFill>
              <a:schemeClr val="dk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368CD24F-782A-E737-FCF5-5AEB6DBB49FE}"/>
                </a:ext>
              </a:extLst>
            </p:cNvPr>
            <p:cNvCxnSpPr/>
            <p:nvPr/>
          </p:nvCxnSpPr>
          <p:spPr>
            <a:xfrm>
              <a:off x="2797315" y="2188372"/>
              <a:ext cx="0" cy="96012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459B1C93-B123-F244-F98A-51D4686C4B06}"/>
                </a:ext>
              </a:extLst>
            </p:cNvPr>
            <p:cNvCxnSpPr>
              <a:cxnSpLocks/>
            </p:cNvCxnSpPr>
            <p:nvPr/>
          </p:nvCxnSpPr>
          <p:spPr>
            <a:xfrm>
              <a:off x="1392891" y="3664365"/>
              <a:ext cx="2907792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441D9579-37D5-FD3A-0D44-06BB5F1193C6}"/>
                </a:ext>
              </a:extLst>
            </p:cNvPr>
            <p:cNvSpPr txBox="1"/>
            <p:nvPr/>
          </p:nvSpPr>
          <p:spPr>
            <a:xfrm>
              <a:off x="2692874" y="3684664"/>
              <a:ext cx="216071" cy="23620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+mj-lt"/>
                </a:rPr>
                <a:t>L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645FD98F-6B25-F59F-FCE8-F8743701F94B}"/>
                </a:ext>
              </a:extLst>
            </p:cNvPr>
            <p:cNvSpPr txBox="1"/>
            <p:nvPr/>
          </p:nvSpPr>
          <p:spPr>
            <a:xfrm>
              <a:off x="2693000" y="1945303"/>
              <a:ext cx="208629" cy="23620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+mj-lt"/>
                </a:rPr>
                <a:t>P</a:t>
              </a: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49238A81-58D0-40F0-5645-AB25CD644399}"/>
                </a:ext>
              </a:extLst>
            </p:cNvPr>
            <p:cNvSpPr/>
            <p:nvPr/>
          </p:nvSpPr>
          <p:spPr>
            <a:xfrm>
              <a:off x="1435608" y="3168789"/>
              <a:ext cx="2812415" cy="397404"/>
            </a:xfrm>
            <a:custGeom>
              <a:avLst/>
              <a:gdLst>
                <a:gd name="csX0" fmla="*/ 0 w 2889504"/>
                <a:gd name="csY0" fmla="*/ 18288 h 420657"/>
                <a:gd name="csX1" fmla="*/ 1399032 w 2889504"/>
                <a:gd name="csY1" fmla="*/ 420624 h 420657"/>
                <a:gd name="csX2" fmla="*/ 2889504 w 2889504"/>
                <a:gd name="csY2" fmla="*/ 0 h 42065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889504" h="420657">
                  <a:moveTo>
                    <a:pt x="0" y="18288"/>
                  </a:moveTo>
                  <a:cubicBezTo>
                    <a:pt x="458724" y="220980"/>
                    <a:pt x="917448" y="423672"/>
                    <a:pt x="1399032" y="420624"/>
                  </a:cubicBezTo>
                  <a:cubicBezTo>
                    <a:pt x="1880616" y="417576"/>
                    <a:pt x="2631948" y="92964"/>
                    <a:pt x="2889504" y="0"/>
                  </a:cubicBezTo>
                </a:path>
              </a:pathLst>
            </a:custGeom>
            <a:ln w="28575">
              <a:solidFill>
                <a:schemeClr val="tx1"/>
              </a:solidFill>
              <a:prstDash val="sysDash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EA48CD03-CF4E-A788-8557-B5EDC5B50377}"/>
                    </a:ext>
                  </a:extLst>
                </p:cNvPr>
                <p:cNvSpPr txBox="1"/>
                <p:nvPr/>
              </p:nvSpPr>
              <p:spPr>
                <a:xfrm>
                  <a:off x="2773259" y="3220756"/>
                  <a:ext cx="414776" cy="23620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𝛿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12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max</m:t>
                            </m:r>
                          </m:sub>
                        </m:sSub>
                      </m:oMath>
                    </m:oMathPara>
                  </a14:m>
                  <a:endParaRPr lang="en-US" sz="1200" dirty="0">
                    <a:solidFill>
                      <a:schemeClr val="tx1"/>
                    </a:solidFill>
                    <a:latin typeface="+mj-lt"/>
                  </a:endParaRPr>
                </a:p>
              </p:txBody>
            </p:sp>
          </mc:Choice>
          <mc:Fallback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EA48CD03-CF4E-A788-8557-B5EDC5B5037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73259" y="3220756"/>
                  <a:ext cx="414776" cy="236201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3AEC41B6-FDE2-94B6-8284-3986D0542D42}"/>
                </a:ext>
              </a:extLst>
            </p:cNvPr>
            <p:cNvCxnSpPr/>
            <p:nvPr/>
          </p:nvCxnSpPr>
          <p:spPr>
            <a:xfrm>
              <a:off x="1393653" y="3560626"/>
              <a:ext cx="0" cy="207478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BC4FE408-A6A7-11FF-02B4-8F0B1152E5F8}"/>
                </a:ext>
              </a:extLst>
            </p:cNvPr>
            <p:cNvCxnSpPr/>
            <p:nvPr/>
          </p:nvCxnSpPr>
          <p:spPr>
            <a:xfrm>
              <a:off x="4300683" y="3560626"/>
              <a:ext cx="0" cy="207478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EA14D21C-0C43-493C-6138-F0F38F2468BF}"/>
                </a:ext>
              </a:extLst>
            </p:cNvPr>
            <p:cNvCxnSpPr>
              <a:cxnSpLocks/>
              <a:endCxn id="14" idx="1"/>
            </p:cNvCxnSpPr>
            <p:nvPr/>
          </p:nvCxnSpPr>
          <p:spPr>
            <a:xfrm>
              <a:off x="2797315" y="3168789"/>
              <a:ext cx="0" cy="397373"/>
            </a:xfrm>
            <a:prstGeom prst="line">
              <a:avLst/>
            </a:prstGeom>
            <a:ln w="9525">
              <a:solidFill>
                <a:schemeClr val="tx1"/>
              </a:solidFill>
              <a:prstDash val="dash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0520591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CBF3F3-4395-CEEC-ABF4-F5E7416A03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EA7D1-58C7-0A15-0C9F-7F252B3967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Ill-Posed Beam Problem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1A7230-4C77-DCEF-EF5D-0D29C801B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F4311-C1C1-468E-90BA-469E1A493750}" type="slidenum">
              <a:rPr lang="en-US" smtClean="0"/>
              <a:t>4</a:t>
            </a:fld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352AE2F-73E3-3B21-1584-A2276E5654E6}"/>
              </a:ext>
            </a:extLst>
          </p:cNvPr>
          <p:cNvGrpSpPr/>
          <p:nvPr/>
        </p:nvGrpSpPr>
        <p:grpSpPr>
          <a:xfrm>
            <a:off x="4023519" y="2270601"/>
            <a:ext cx="4144962" cy="2316797"/>
            <a:chOff x="1251331" y="1945303"/>
            <a:chExt cx="3207259" cy="1975562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AE70D61D-3BA9-6B0D-4F03-E85D98AF3C88}"/>
                </a:ext>
              </a:extLst>
            </p:cNvPr>
            <p:cNvCxnSpPr>
              <a:cxnSpLocks/>
            </p:cNvCxnSpPr>
            <p:nvPr/>
          </p:nvCxnSpPr>
          <p:spPr>
            <a:xfrm>
              <a:off x="1251331" y="3148491"/>
              <a:ext cx="1545984" cy="0"/>
            </a:xfrm>
            <a:prstGeom prst="line">
              <a:avLst/>
            </a:prstGeom>
            <a:ln w="57150"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0DB6F6EF-3AD9-68E3-B5CC-5F99CFBA561F}"/>
                </a:ext>
              </a:extLst>
            </p:cNvPr>
            <p:cNvSpPr/>
            <p:nvPr/>
          </p:nvSpPr>
          <p:spPr>
            <a:xfrm>
              <a:off x="4189805" y="3148491"/>
              <a:ext cx="268785" cy="287394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Isosceles Triangle 7">
              <a:extLst>
                <a:ext uri="{FF2B5EF4-FFF2-40B4-BE49-F238E27FC236}">
                  <a16:creationId xmlns:a16="http://schemas.microsoft.com/office/drawing/2014/main" id="{C8830986-FA06-8B67-7806-1624C2C03004}"/>
                </a:ext>
              </a:extLst>
            </p:cNvPr>
            <p:cNvSpPr/>
            <p:nvPr/>
          </p:nvSpPr>
          <p:spPr>
            <a:xfrm>
              <a:off x="1277620" y="3148491"/>
              <a:ext cx="246888" cy="261741"/>
            </a:xfrm>
            <a:prstGeom prst="triangle">
              <a:avLst/>
            </a:prstGeom>
            <a:solidFill>
              <a:schemeClr val="dk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D740EC8C-D99B-21A9-B378-89D858E71012}"/>
                </a:ext>
              </a:extLst>
            </p:cNvPr>
            <p:cNvCxnSpPr/>
            <p:nvPr/>
          </p:nvCxnSpPr>
          <p:spPr>
            <a:xfrm>
              <a:off x="2797315" y="2188372"/>
              <a:ext cx="0" cy="96012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1D5C093-87B7-805D-3976-ADEB94F07E32}"/>
                </a:ext>
              </a:extLst>
            </p:cNvPr>
            <p:cNvCxnSpPr>
              <a:cxnSpLocks/>
            </p:cNvCxnSpPr>
            <p:nvPr/>
          </p:nvCxnSpPr>
          <p:spPr>
            <a:xfrm>
              <a:off x="1392891" y="3664365"/>
              <a:ext cx="2907792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F547F64-4C2E-B5DF-EB35-0110984F2409}"/>
                </a:ext>
              </a:extLst>
            </p:cNvPr>
            <p:cNvSpPr txBox="1"/>
            <p:nvPr/>
          </p:nvSpPr>
          <p:spPr>
            <a:xfrm>
              <a:off x="2692874" y="3684664"/>
              <a:ext cx="216071" cy="23620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+mj-lt"/>
                </a:rPr>
                <a:t>L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13738A99-0D2A-978F-8E40-4ABD0A2E3B38}"/>
                </a:ext>
              </a:extLst>
            </p:cNvPr>
            <p:cNvSpPr txBox="1"/>
            <p:nvPr/>
          </p:nvSpPr>
          <p:spPr>
            <a:xfrm>
              <a:off x="2693000" y="1945303"/>
              <a:ext cx="208629" cy="23620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+mj-lt"/>
                </a:rPr>
                <a:t>P</a:t>
              </a: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A37CA55-F67F-7A8E-C13E-3A402695FC4C}"/>
                </a:ext>
              </a:extLst>
            </p:cNvPr>
            <p:cNvSpPr/>
            <p:nvPr/>
          </p:nvSpPr>
          <p:spPr>
            <a:xfrm>
              <a:off x="1435608" y="3168789"/>
              <a:ext cx="2812415" cy="397404"/>
            </a:xfrm>
            <a:custGeom>
              <a:avLst/>
              <a:gdLst>
                <a:gd name="csX0" fmla="*/ 0 w 2889504"/>
                <a:gd name="csY0" fmla="*/ 18288 h 420657"/>
                <a:gd name="csX1" fmla="*/ 1399032 w 2889504"/>
                <a:gd name="csY1" fmla="*/ 420624 h 420657"/>
                <a:gd name="csX2" fmla="*/ 2889504 w 2889504"/>
                <a:gd name="csY2" fmla="*/ 0 h 42065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889504" h="420657">
                  <a:moveTo>
                    <a:pt x="0" y="18288"/>
                  </a:moveTo>
                  <a:cubicBezTo>
                    <a:pt x="458724" y="220980"/>
                    <a:pt x="917448" y="423672"/>
                    <a:pt x="1399032" y="420624"/>
                  </a:cubicBezTo>
                  <a:cubicBezTo>
                    <a:pt x="1880616" y="417576"/>
                    <a:pt x="2631948" y="92964"/>
                    <a:pt x="2889504" y="0"/>
                  </a:cubicBezTo>
                </a:path>
              </a:pathLst>
            </a:custGeom>
            <a:ln w="28575">
              <a:solidFill>
                <a:schemeClr val="tx1"/>
              </a:solidFill>
              <a:prstDash val="sysDash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C79233F3-98B1-A932-85B8-AE73E8F32EFE}"/>
                    </a:ext>
                  </a:extLst>
                </p:cNvPr>
                <p:cNvSpPr txBox="1"/>
                <p:nvPr/>
              </p:nvSpPr>
              <p:spPr>
                <a:xfrm>
                  <a:off x="2773259" y="3220756"/>
                  <a:ext cx="414776" cy="23620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𝛿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12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max</m:t>
                            </m:r>
                          </m:sub>
                        </m:sSub>
                      </m:oMath>
                    </m:oMathPara>
                  </a14:m>
                  <a:endParaRPr lang="en-US" sz="1200" dirty="0">
                    <a:solidFill>
                      <a:schemeClr val="tx1"/>
                    </a:solidFill>
                    <a:latin typeface="+mj-lt"/>
                  </a:endParaRPr>
                </a:p>
              </p:txBody>
            </p:sp>
          </mc:Choice>
          <mc:Fallback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C79233F3-98B1-A932-85B8-AE73E8F32EF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73259" y="3220756"/>
                  <a:ext cx="414776" cy="236201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391AD9D6-CC2A-0E2F-448A-18E8127653F6}"/>
                </a:ext>
              </a:extLst>
            </p:cNvPr>
            <p:cNvCxnSpPr/>
            <p:nvPr/>
          </p:nvCxnSpPr>
          <p:spPr>
            <a:xfrm>
              <a:off x="1393653" y="3560626"/>
              <a:ext cx="0" cy="207478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5D34F5F5-FE59-1F76-2507-A20617E1E4AB}"/>
                </a:ext>
              </a:extLst>
            </p:cNvPr>
            <p:cNvCxnSpPr/>
            <p:nvPr/>
          </p:nvCxnSpPr>
          <p:spPr>
            <a:xfrm>
              <a:off x="4300683" y="3560626"/>
              <a:ext cx="0" cy="207478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A17185B8-618D-50E9-9F67-C3F81D35F952}"/>
                </a:ext>
              </a:extLst>
            </p:cNvPr>
            <p:cNvCxnSpPr>
              <a:cxnSpLocks/>
              <a:endCxn id="13" idx="1"/>
            </p:cNvCxnSpPr>
            <p:nvPr/>
          </p:nvCxnSpPr>
          <p:spPr>
            <a:xfrm>
              <a:off x="2797315" y="3168789"/>
              <a:ext cx="0" cy="397373"/>
            </a:xfrm>
            <a:prstGeom prst="line">
              <a:avLst/>
            </a:prstGeom>
            <a:ln w="9525">
              <a:solidFill>
                <a:schemeClr val="tx1"/>
              </a:solidFill>
              <a:prstDash val="dash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</p:grp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EC3865A-B98A-6E65-48C9-7DCAD8440588}"/>
              </a:ext>
            </a:extLst>
          </p:cNvPr>
          <p:cNvCxnSpPr>
            <a:cxnSpLocks/>
          </p:cNvCxnSpPr>
          <p:nvPr/>
        </p:nvCxnSpPr>
        <p:spPr>
          <a:xfrm>
            <a:off x="6021501" y="3681613"/>
            <a:ext cx="1997982" cy="0"/>
          </a:xfrm>
          <a:prstGeom prst="line">
            <a:avLst/>
          </a:prstGeom>
          <a:ln w="5715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2672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imes New Roman-Arial">
      <a:majorFont>
        <a:latin typeface="Times New Roman" panose="02020603050405020304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358</TotalTime>
  <Words>79</Words>
  <Application>Microsoft Office PowerPoint</Application>
  <PresentationFormat>Widescreen</PresentationFormat>
  <Paragraphs>27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Arial</vt:lpstr>
      <vt:lpstr>Cambria Math</vt:lpstr>
      <vt:lpstr>Times New Roman</vt:lpstr>
      <vt:lpstr>Office Theme</vt:lpstr>
      <vt:lpstr>Inverse Mechanics The Bridge Problem</vt:lpstr>
      <vt:lpstr>Simple Beam Problem</vt:lpstr>
      <vt:lpstr>Simple Beam Problem</vt:lpstr>
      <vt:lpstr>The Ill-Posed Beam Problem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Yang, Johnson</dc:creator>
  <cp:lastModifiedBy>Yang, Johnson</cp:lastModifiedBy>
  <cp:revision>5</cp:revision>
  <dcterms:created xsi:type="dcterms:W3CDTF">2025-12-13T20:52:53Z</dcterms:created>
  <dcterms:modified xsi:type="dcterms:W3CDTF">2026-01-29T04:01:09Z</dcterms:modified>
</cp:coreProperties>
</file>