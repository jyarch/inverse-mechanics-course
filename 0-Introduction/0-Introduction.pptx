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handoutMasterIdLst>
    <p:handoutMasterId r:id="rId14"/>
  </p:handoutMasterIdLst>
  <p:sldIdLst>
    <p:sldId id="256" r:id="rId2"/>
    <p:sldId id="261" r:id="rId3"/>
    <p:sldId id="268" r:id="rId4"/>
    <p:sldId id="259" r:id="rId5"/>
    <p:sldId id="266" r:id="rId6"/>
    <p:sldId id="267" r:id="rId7"/>
    <p:sldId id="257" r:id="rId8"/>
    <p:sldId id="260" r:id="rId9"/>
    <p:sldId id="258" r:id="rId10"/>
    <p:sldId id="269" r:id="rId11"/>
    <p:sldId id="270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ang, Johnson" userId="89424e7b-9fac-45cd-9016-7e93402078f1" providerId="ADAL" clId="{058A9F62-D186-4AF4-91E1-78AFFEA7CB5D}"/>
    <pc:docChg chg="addSld modSld">
      <pc:chgData name="Yang, Johnson" userId="89424e7b-9fac-45cd-9016-7e93402078f1" providerId="ADAL" clId="{058A9F62-D186-4AF4-91E1-78AFFEA7CB5D}" dt="2026-01-07T02:17:55.490" v="6" actId="680"/>
      <pc:docMkLst>
        <pc:docMk/>
      </pc:docMkLst>
      <pc:sldChg chg="modSp mod">
        <pc:chgData name="Yang, Johnson" userId="89424e7b-9fac-45cd-9016-7e93402078f1" providerId="ADAL" clId="{058A9F62-D186-4AF4-91E1-78AFFEA7CB5D}" dt="2026-01-07T02:17:48.653" v="5" actId="20577"/>
        <pc:sldMkLst>
          <pc:docMk/>
          <pc:sldMk cId="2383413940" sldId="256"/>
        </pc:sldMkLst>
        <pc:spChg chg="mod">
          <ac:chgData name="Yang, Johnson" userId="89424e7b-9fac-45cd-9016-7e93402078f1" providerId="ADAL" clId="{058A9F62-D186-4AF4-91E1-78AFFEA7CB5D}" dt="2026-01-07T02:17:48.653" v="5" actId="20577"/>
          <ac:spMkLst>
            <pc:docMk/>
            <pc:sldMk cId="2383413940" sldId="256"/>
            <ac:spMk id="3" creationId="{D4943E14-DE0D-71F7-5C56-EBBE51840036}"/>
          </ac:spMkLst>
        </pc:spChg>
      </pc:sldChg>
      <pc:sldChg chg="new">
        <pc:chgData name="Yang, Johnson" userId="89424e7b-9fac-45cd-9016-7e93402078f1" providerId="ADAL" clId="{058A9F62-D186-4AF4-91E1-78AFFEA7CB5D}" dt="2026-01-07T02:17:55.490" v="6" actId="680"/>
        <pc:sldMkLst>
          <pc:docMk/>
          <pc:sldMk cId="3825483197" sldId="258"/>
        </pc:sldMkLst>
      </pc:sldChg>
    </pc:docChg>
  </pc:docChgLst>
  <pc:docChgLst>
    <pc:chgData name="Yang, Johnson" userId="89424e7b-9fac-45cd-9016-7e93402078f1" providerId="ADAL" clId="{B180C5B1-A979-45A1-9F77-E194B361D298}"/>
    <pc:docChg chg="undo custSel addSld delSld modSld">
      <pc:chgData name="Yang, Johnson" userId="89424e7b-9fac-45cd-9016-7e93402078f1" providerId="ADAL" clId="{B180C5B1-A979-45A1-9F77-E194B361D298}" dt="2026-01-14T23:41:39.168" v="232" actId="1076"/>
      <pc:docMkLst>
        <pc:docMk/>
      </pc:docMkLst>
      <pc:sldChg chg="modSp mod">
        <pc:chgData name="Yang, Johnson" userId="89424e7b-9fac-45cd-9016-7e93402078f1" providerId="ADAL" clId="{B180C5B1-A979-45A1-9F77-E194B361D298}" dt="2026-01-14T23:38:14.530" v="213" actId="20577"/>
        <pc:sldMkLst>
          <pc:docMk/>
          <pc:sldMk cId="2455786776" sldId="257"/>
        </pc:sldMkLst>
        <pc:spChg chg="mod">
          <ac:chgData name="Yang, Johnson" userId="89424e7b-9fac-45cd-9016-7e93402078f1" providerId="ADAL" clId="{B180C5B1-A979-45A1-9F77-E194B361D298}" dt="2026-01-14T23:36:45.058" v="100" actId="20577"/>
          <ac:spMkLst>
            <pc:docMk/>
            <pc:sldMk cId="2455786776" sldId="257"/>
            <ac:spMk id="2" creationId="{9E2605ED-D038-EF3A-A4F9-DBFE434ED9F0}"/>
          </ac:spMkLst>
        </pc:spChg>
        <pc:spChg chg="mod">
          <ac:chgData name="Yang, Johnson" userId="89424e7b-9fac-45cd-9016-7e93402078f1" providerId="ADAL" clId="{B180C5B1-A979-45A1-9F77-E194B361D298}" dt="2026-01-14T23:38:14.530" v="213" actId="20577"/>
          <ac:spMkLst>
            <pc:docMk/>
            <pc:sldMk cId="2455786776" sldId="257"/>
            <ac:spMk id="3" creationId="{75D931D5-EACD-FEF6-3CF2-2D2C006EBAB6}"/>
          </ac:spMkLst>
        </pc:spChg>
      </pc:sldChg>
      <pc:sldChg chg="addSp modSp mod">
        <pc:chgData name="Yang, Johnson" userId="89424e7b-9fac-45cd-9016-7e93402078f1" providerId="ADAL" clId="{B180C5B1-A979-45A1-9F77-E194B361D298}" dt="2026-01-14T23:39:37.439" v="216" actId="1076"/>
        <pc:sldMkLst>
          <pc:docMk/>
          <pc:sldMk cId="3825483197" sldId="258"/>
        </pc:sldMkLst>
        <pc:picChg chg="add mod">
          <ac:chgData name="Yang, Johnson" userId="89424e7b-9fac-45cd-9016-7e93402078f1" providerId="ADAL" clId="{B180C5B1-A979-45A1-9F77-E194B361D298}" dt="2026-01-14T23:39:37.439" v="216" actId="1076"/>
          <ac:picMkLst>
            <pc:docMk/>
            <pc:sldMk cId="3825483197" sldId="258"/>
            <ac:picMk id="6" creationId="{AEA1D454-A526-E70C-6F26-76E204AD399A}"/>
          </ac:picMkLst>
        </pc:picChg>
      </pc:sldChg>
      <pc:sldChg chg="new del">
        <pc:chgData name="Yang, Johnson" userId="89424e7b-9fac-45cd-9016-7e93402078f1" providerId="ADAL" clId="{B180C5B1-A979-45A1-9F77-E194B361D298}" dt="2026-01-14T23:39:44.415" v="218" actId="680"/>
        <pc:sldMkLst>
          <pc:docMk/>
          <pc:sldMk cId="1703784009" sldId="259"/>
        </pc:sldMkLst>
      </pc:sldChg>
      <pc:sldChg chg="addSp delSp modSp new mod">
        <pc:chgData name="Yang, Johnson" userId="89424e7b-9fac-45cd-9016-7e93402078f1" providerId="ADAL" clId="{B180C5B1-A979-45A1-9F77-E194B361D298}" dt="2026-01-14T23:40:06.257" v="224" actId="1076"/>
        <pc:sldMkLst>
          <pc:docMk/>
          <pc:sldMk cId="3655632260" sldId="259"/>
        </pc:sldMkLst>
        <pc:picChg chg="add del">
          <ac:chgData name="Yang, Johnson" userId="89424e7b-9fac-45cd-9016-7e93402078f1" providerId="ADAL" clId="{B180C5B1-A979-45A1-9F77-E194B361D298}" dt="2026-01-14T23:39:52.807" v="221" actId="22"/>
          <ac:picMkLst>
            <pc:docMk/>
            <pc:sldMk cId="3655632260" sldId="259"/>
            <ac:picMk id="6" creationId="{CE6572C5-3799-9803-3038-E309D91C894E}"/>
          </ac:picMkLst>
        </pc:picChg>
        <pc:picChg chg="add mod">
          <ac:chgData name="Yang, Johnson" userId="89424e7b-9fac-45cd-9016-7e93402078f1" providerId="ADAL" clId="{B180C5B1-A979-45A1-9F77-E194B361D298}" dt="2026-01-14T23:40:06.257" v="224" actId="1076"/>
          <ac:picMkLst>
            <pc:docMk/>
            <pc:sldMk cId="3655632260" sldId="259"/>
            <ac:picMk id="8" creationId="{F4EAA997-D686-0F1D-D19B-785B95529E95}"/>
          </ac:picMkLst>
        </pc:picChg>
      </pc:sldChg>
      <pc:sldChg chg="addSp delSp modSp add mod">
        <pc:chgData name="Yang, Johnson" userId="89424e7b-9fac-45cd-9016-7e93402078f1" providerId="ADAL" clId="{B180C5B1-A979-45A1-9F77-E194B361D298}" dt="2026-01-14T23:41:39.168" v="232" actId="1076"/>
        <pc:sldMkLst>
          <pc:docMk/>
          <pc:sldMk cId="3177618537" sldId="260"/>
        </pc:sldMkLst>
        <pc:spChg chg="mod">
          <ac:chgData name="Yang, Johnson" userId="89424e7b-9fac-45cd-9016-7e93402078f1" providerId="ADAL" clId="{B180C5B1-A979-45A1-9F77-E194B361D298}" dt="2026-01-14T23:40:08.534" v="226" actId="27636"/>
          <ac:spMkLst>
            <pc:docMk/>
            <pc:sldMk cId="3177618537" sldId="260"/>
            <ac:spMk id="2" creationId="{DD10CA0E-F9BF-7C6F-D175-5971F7A9596E}"/>
          </ac:spMkLst>
        </pc:spChg>
        <pc:picChg chg="add mod">
          <ac:chgData name="Yang, Johnson" userId="89424e7b-9fac-45cd-9016-7e93402078f1" providerId="ADAL" clId="{B180C5B1-A979-45A1-9F77-E194B361D298}" dt="2026-01-14T23:41:39.168" v="232" actId="1076"/>
          <ac:picMkLst>
            <pc:docMk/>
            <pc:sldMk cId="3177618537" sldId="260"/>
            <ac:picMk id="6" creationId="{13CCF8AF-BFB5-F127-E393-9B26B4EBA727}"/>
          </ac:picMkLst>
        </pc:picChg>
        <pc:picChg chg="del">
          <ac:chgData name="Yang, Johnson" userId="89424e7b-9fac-45cd-9016-7e93402078f1" providerId="ADAL" clId="{B180C5B1-A979-45A1-9F77-E194B361D298}" dt="2026-01-14T23:40:09.749" v="227" actId="478"/>
          <ac:picMkLst>
            <pc:docMk/>
            <pc:sldMk cId="3177618537" sldId="260"/>
            <ac:picMk id="8" creationId="{4E92E0B2-B7AF-D7F5-7025-1733AAE525E6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1F1D0A3-A730-1EE2-0EEB-262D2495859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25061B-C45A-8208-100E-BF0E11F17D9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6E7365E-7303-4AD9-8FBF-4B173A7D9DED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339A9C-34F5-FD66-3D77-9201CDE56DD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50F96CD-00CD-B48B-0097-AC612240508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F3DA9F1-9436-46C5-B488-D9A887B455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6073703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12898FD-25D5-4BC2-95FB-0E9BA7ACA22E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8C8204A-43A9-4FC9-A2DC-0B186264B9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3734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5B83BF-BDE2-AA6B-8108-5E2FEF06AB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A284BAC-9EB8-77A5-41B2-2256C1C2A5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303387-0FE2-E564-43FF-F31A4EA26E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12/13/2025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1C61C7-5442-CF50-B950-61C9BD3712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295DD0-D6BE-ECED-C328-3D9B61B70C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5F4311-C1C1-468E-90BA-469E1A4937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52880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5AE425-165E-3737-7FBE-3535CBD95C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60576"/>
            <a:ext cx="10515600" cy="55547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9BE21E-E51D-6080-5825-563897BD66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7797"/>
            <a:ext cx="10515600" cy="4351338"/>
          </a:xfrm>
        </p:spPr>
        <p:txBody>
          <a:bodyPr/>
          <a:lstStyle>
            <a:lvl1pPr>
              <a:defRPr sz="2400">
                <a:latin typeface="+mj-lt"/>
              </a:defRPr>
            </a:lvl1pPr>
            <a:lvl2pPr>
              <a:defRPr sz="2400">
                <a:latin typeface="+mj-lt"/>
              </a:defRPr>
            </a:lvl2pPr>
            <a:lvl3pPr>
              <a:defRPr sz="2400">
                <a:latin typeface="+mj-lt"/>
              </a:defRPr>
            </a:lvl3pPr>
            <a:lvl4pPr>
              <a:defRPr sz="2400">
                <a:latin typeface="+mj-lt"/>
              </a:defRPr>
            </a:lvl4pPr>
            <a:lvl5pPr>
              <a:defRPr sz="2400">
                <a:latin typeface="+mj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91A100-D645-F4E1-28E5-BBB8CA5D6E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12/13/2025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A119E5-1140-09D6-FA15-514FCBB1FD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1A02A9-98D8-3C8C-ACD9-0CA2D03746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5F4311-C1C1-468E-90BA-469E1A493750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E20B2C0-A147-0847-3314-97EDC5BADE5B}"/>
              </a:ext>
            </a:extLst>
          </p:cNvPr>
          <p:cNvCxnSpPr>
            <a:cxnSpLocks/>
          </p:cNvCxnSpPr>
          <p:nvPr userDrawn="1"/>
        </p:nvCxnSpPr>
        <p:spPr>
          <a:xfrm>
            <a:off x="838200" y="1384420"/>
            <a:ext cx="10515600" cy="0"/>
          </a:xfrm>
          <a:prstGeom prst="line">
            <a:avLst/>
          </a:prstGeom>
          <a:ln w="571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625510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B2C710-3A58-541F-9EE1-6ACC818585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A61F84-44D4-3922-AC5C-20E6DA908E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5866C4-1EE6-9480-9079-6BC828CF88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12/13/2025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459E6F-0345-8A58-B119-20A2550415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3046EF-3C8D-3F38-4018-55D7C79709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5F4311-C1C1-468E-90BA-469E1A4937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21430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51D329-85DA-B07C-E12C-16C9826310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68D9CE-78AE-8909-F2B1-3EDAAEF510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>
                <a:latin typeface="+mj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5DBECFD-2F9A-585A-4BC8-CF76781831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>
              <a:defRPr>
                <a:latin typeface="+mj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36A875-1C2B-541A-32E2-4F0C76751E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12/13/2025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5D93D4-EF1C-7AD2-580C-0C219571E7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875D7B-FEC2-989C-4768-48B721425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5F4311-C1C1-468E-90BA-469E1A4937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5778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3BA0F2-36A1-80AC-5D22-D8326E94BD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16F371-5C85-6468-F30B-1E15B2F4A3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D45CC8-35A8-CD17-F321-23629FA27C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>
            <a:lvl1pPr>
              <a:defRPr>
                <a:latin typeface="+mj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D734A85-473C-A1D9-200C-13EBD0EDADC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678C76E-FBC9-F788-5877-472054A43FB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>
            <a:lvl1pPr>
              <a:defRPr>
                <a:latin typeface="+mj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12D9FB0-AB34-2BBB-2693-114DBDFEC0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12/13/2025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7DCF88A-4C7C-8649-BB81-5FC01CEF6C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7408D89-152A-68C2-5CA3-1442CE7A01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5F4311-C1C1-468E-90BA-469E1A4937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57550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7EF9F9-ED48-F962-E094-6A48ADD733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9A039B6-E1A7-9842-A531-93ABD8F286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12/13/2025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B6D6013-F00F-5847-D211-7BA71116F8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0E32ACB-964A-65B2-8300-32F11CF87B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5F4311-C1C1-468E-90BA-469E1A4937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5896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B7288DB-9434-9BC2-5A2D-9B12AB8093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12/13/2025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0C2EEB0-C498-310B-6266-6E2255B368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B8CB63-56A7-ED6C-2AF3-A1F294FB19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5F4311-C1C1-468E-90BA-469E1A4937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41177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D5E7A4-BE4F-4FFB-0490-0263A2E46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88E92A-391D-CF28-751B-D09BE0AF89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>
                <a:latin typeface="+mj-lt"/>
              </a:defRPr>
            </a:lvl1pPr>
            <a:lvl2pPr>
              <a:defRPr sz="2800">
                <a:latin typeface="+mj-lt"/>
              </a:defRPr>
            </a:lvl2pPr>
            <a:lvl3pPr>
              <a:defRPr sz="2400">
                <a:latin typeface="+mj-lt"/>
              </a:defRPr>
            </a:lvl3pPr>
            <a:lvl4pPr>
              <a:defRPr sz="2000">
                <a:latin typeface="+mj-lt"/>
              </a:defRPr>
            </a:lvl4pPr>
            <a:lvl5pPr>
              <a:defRPr sz="2000">
                <a:latin typeface="+mj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D52035-7D78-B935-B472-ADF8CE006D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201C41-3CFF-E137-3E3D-3E3A4B37E8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12/13/2025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16B72C-605B-28F5-DBD5-FF7C2974D7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13ACCC-0F6D-879E-E1C6-AA5FF40593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5F4311-C1C1-468E-90BA-469E1A4937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78741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3EA17B-1346-132B-EB02-023D96233E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9DF0A36-71C8-4B8A-31BD-FA0772E6277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6A22865-B8C9-F842-DA8E-C3CA4C3793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>
                <a:latin typeface="+mj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293E2E-BEE3-52E2-6CF0-747CF7C48D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12/13/2025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09629B-C04A-F84E-EF41-AE2633D8A5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9AD050-BFD6-F208-F628-E0F487662C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5F4311-C1C1-468E-90BA-469E1A4937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8065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B3EB96-440B-3C50-4E9B-16BC1F1743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3A82686-04C0-4E04-A82B-A50E56F871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>
                <a:latin typeface="+mj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64B44A-5310-E86D-A1A2-2394EAE8B9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12/13/2025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67C07B-2854-2FDF-5F5D-2E3649C7AF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DA715D-8A20-D968-9E03-51D36E3CA3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5F4311-C1C1-468E-90BA-469E1A4937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02269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A867E8C-C78D-B3F4-6D4E-E88F411F352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1DA8BE8-0D63-D2BA-0FEF-841F303BDF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>
            <a:lvl1pPr>
              <a:defRPr>
                <a:latin typeface="+mj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F607E0-BBC8-8A8D-B200-A8DA7D6E9B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12/13/2025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32495D-6ADF-6784-1B78-D4D5F98EEE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E975D2-3B17-A0D0-5A1E-F81CB2B17D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5F4311-C1C1-468E-90BA-469E1A4937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46359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23DA6B8-C0AC-C79E-FDC5-A2564A21BA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C1698F-AD20-3E68-0D6F-597E259F6F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AC35D4-A9AE-C013-489D-F6428ABCAB9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  <a:latin typeface="+mj-lt"/>
              </a:defRPr>
            </a:lvl1pPr>
          </a:lstStyle>
          <a:p>
            <a:r>
              <a:rPr lang="en-US"/>
              <a:t>12/13/2025</a:t>
            </a:r>
            <a:endParaRPr lang="en-US" dirty="0">
              <a:latin typeface="+mj-lt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4D4F5E-1593-6FFE-E83C-48F26BF45D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  <a:latin typeface="+mj-lt"/>
              </a:defRPr>
            </a:lvl1pPr>
          </a:lstStyle>
          <a:p>
            <a:endParaRPr lang="en-US" dirty="0">
              <a:latin typeface="+mj-lt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5F2E4D-8C92-74A3-6F6C-4B433AB987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  <a:latin typeface="+mj-lt"/>
              </a:defRPr>
            </a:lvl1pPr>
          </a:lstStyle>
          <a:p>
            <a:fld id="{D95F4311-C1C1-468E-90BA-469E1A493750}" type="slidenum">
              <a:rPr lang="en-US" smtClean="0"/>
              <a:pPr/>
              <a:t>‹#›</a:t>
            </a:fld>
            <a:endParaRPr lang="en-US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600166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0.png"/><Relationship Id="rId7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0.png"/><Relationship Id="rId5" Type="http://schemas.openxmlformats.org/officeDocument/2006/relationships/image" Target="../media/image50.png"/><Relationship Id="rId4" Type="http://schemas.openxmlformats.org/officeDocument/2006/relationships/image" Target="../media/image40.png"/><Relationship Id="rId9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35B6D4-DA63-6361-60B3-F26C1FDFF2B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l"/>
            <a:r>
              <a:rPr lang="en-US" b="1" dirty="0"/>
              <a:t>Inverse Mechanics</a:t>
            </a:r>
            <a:br>
              <a:rPr lang="en-US" dirty="0"/>
            </a:br>
            <a:r>
              <a:rPr lang="en-US" sz="4800" dirty="0"/>
              <a:t>Introduction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4943E14-DE0D-71F7-5C56-EBBE5184003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l"/>
            <a:r>
              <a:rPr lang="en-US" dirty="0"/>
              <a:t>Spring 2026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B869FF-757C-5CFB-FBEC-2D0DFEBA74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5F4311-C1C1-468E-90BA-469E1A49375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34139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639068-EE07-EA69-02B1-F7A8091E5B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Definitions [1]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ECA9273-C9AB-73FF-60FA-72A691726CF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000" b="1" dirty="0"/>
                  <a:t>Problems Archetypes</a:t>
                </a:r>
              </a:p>
              <a:p>
                <a:r>
                  <a:rPr lang="en-US" sz="2000" dirty="0"/>
                  <a:t>Direct – given object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sz="2000" dirty="0"/>
                  <a:t> determine data</a:t>
                </a:r>
              </a:p>
              <a:p>
                <a:r>
                  <a:rPr lang="en-US" sz="2000" dirty="0"/>
                  <a:t>Inverse – given data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sz="2000" dirty="0"/>
                  <a:t> recover object</a:t>
                </a:r>
              </a:p>
              <a:p>
                <a:endParaRPr lang="en-US" sz="2000" dirty="0"/>
              </a:p>
              <a:p>
                <a:pPr marL="0" indent="0">
                  <a:buNone/>
                </a:pPr>
                <a:r>
                  <a:rPr lang="en-US" sz="2000" b="1" dirty="0"/>
                  <a:t>Mechanical Analysis Framework</a:t>
                </a:r>
              </a:p>
              <a:p>
                <a:r>
                  <a:rPr lang="en-US" sz="2000" dirty="0"/>
                  <a:t>Forward Mechanics – predicting responses from known parameters</a:t>
                </a:r>
              </a:p>
              <a:p>
                <a:r>
                  <a:rPr lang="en-US" sz="2000" dirty="0"/>
                  <a:t>Inverse Mechanics – predicting parameters from known responses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ECA9273-C9AB-73FF-60FA-72A691726CF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38" t="-15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BE9857-F4C6-AC72-D989-BB889D1C64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5F4311-C1C1-468E-90BA-469E1A493750}" type="slidenum">
              <a:rPr lang="en-US" smtClean="0"/>
              <a:t>2</a:t>
            </a:fld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B613621-C9CC-D836-B1BF-467E44C4896C}"/>
              </a:ext>
            </a:extLst>
          </p:cNvPr>
          <p:cNvGrpSpPr/>
          <p:nvPr/>
        </p:nvGrpSpPr>
        <p:grpSpPr>
          <a:xfrm>
            <a:off x="6852866" y="1577797"/>
            <a:ext cx="4192531" cy="2087668"/>
            <a:chOff x="7008314" y="1577797"/>
            <a:chExt cx="4192531" cy="2087668"/>
          </a:xfrm>
        </p:grpSpPr>
        <p:sp>
          <p:nvSpPr>
            <p:cNvPr id="5" name="Arrow: Curved Down 4">
              <a:extLst>
                <a:ext uri="{FF2B5EF4-FFF2-40B4-BE49-F238E27FC236}">
                  <a16:creationId xmlns:a16="http://schemas.microsoft.com/office/drawing/2014/main" id="{25AF19CA-304A-4F3F-3ECB-39719D94DFE9}"/>
                </a:ext>
              </a:extLst>
            </p:cNvPr>
            <p:cNvSpPr/>
            <p:nvPr/>
          </p:nvSpPr>
          <p:spPr>
            <a:xfrm>
              <a:off x="7434072" y="1968972"/>
              <a:ext cx="3575304" cy="359853"/>
            </a:xfrm>
            <a:prstGeom prst="curvedDownArrow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6" name="Arrow: Curved Down 5">
              <a:extLst>
                <a:ext uri="{FF2B5EF4-FFF2-40B4-BE49-F238E27FC236}">
                  <a16:creationId xmlns:a16="http://schemas.microsoft.com/office/drawing/2014/main" id="{757F440A-2A9A-9356-A863-7BC4332CCFE4}"/>
                </a:ext>
              </a:extLst>
            </p:cNvPr>
            <p:cNvSpPr/>
            <p:nvPr/>
          </p:nvSpPr>
          <p:spPr>
            <a:xfrm rot="10800000">
              <a:off x="7434072" y="2936279"/>
              <a:ext cx="3456432" cy="359853"/>
            </a:xfrm>
            <a:prstGeom prst="curvedDownArrow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933AE04B-1F41-8BDC-1946-214AB1E196CB}"/>
                </a:ext>
              </a:extLst>
            </p:cNvPr>
            <p:cNvSpPr txBox="1"/>
            <p:nvPr/>
          </p:nvSpPr>
          <p:spPr>
            <a:xfrm>
              <a:off x="7008314" y="2447886"/>
              <a:ext cx="80021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+mj-lt"/>
                </a:rPr>
                <a:t>Object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AA24AAE0-9360-AA82-B753-2A6BEE8C583C}"/>
                </a:ext>
              </a:extLst>
            </p:cNvPr>
            <p:cNvSpPr txBox="1"/>
            <p:nvPr/>
          </p:nvSpPr>
          <p:spPr>
            <a:xfrm>
              <a:off x="10580162" y="2436075"/>
              <a:ext cx="62068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+mj-lt"/>
                </a:rPr>
                <a:t>Data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D89A1B66-C25F-48DA-70D7-DA9C35FC4C91}"/>
                </a:ext>
              </a:extLst>
            </p:cNvPr>
            <p:cNvSpPr txBox="1"/>
            <p:nvPr/>
          </p:nvSpPr>
          <p:spPr>
            <a:xfrm>
              <a:off x="8369567" y="3296133"/>
              <a:ext cx="170431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+mj-lt"/>
                </a:rPr>
                <a:t>Inverse Problem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B6F27987-9610-BBDD-AF79-F6C9F1F09ECC}"/>
                </a:ext>
              </a:extLst>
            </p:cNvPr>
            <p:cNvSpPr txBox="1"/>
            <p:nvPr/>
          </p:nvSpPr>
          <p:spPr>
            <a:xfrm>
              <a:off x="8361427" y="1577797"/>
              <a:ext cx="160172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+mj-lt"/>
                </a:rPr>
                <a:t>Direct Problem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663247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BF1783-C850-1908-FA17-A201049F57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CD8B1D-58C1-763C-C86F-799487D647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Example 1: Image Processing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F4F360-2EF2-5444-4A3F-C3384FBE3D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48893" y="6331554"/>
            <a:ext cx="2743200" cy="365125"/>
          </a:xfrm>
        </p:spPr>
        <p:txBody>
          <a:bodyPr/>
          <a:lstStyle/>
          <a:p>
            <a:fld id="{D95F4311-C1C1-468E-90BA-469E1A493750}" type="slidenum">
              <a:rPr lang="en-US" smtClean="0"/>
              <a:t>3</a:t>
            </a:fld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28ABC6C0-7045-B10B-5EBF-210F3CD81517}"/>
              </a:ext>
            </a:extLst>
          </p:cNvPr>
          <p:cNvGrpSpPr/>
          <p:nvPr/>
        </p:nvGrpSpPr>
        <p:grpSpPr>
          <a:xfrm>
            <a:off x="4409801" y="4837875"/>
            <a:ext cx="2743200" cy="1783894"/>
            <a:chOff x="7008314" y="1523054"/>
            <a:chExt cx="4192531" cy="2142411"/>
          </a:xfrm>
        </p:grpSpPr>
        <p:sp>
          <p:nvSpPr>
            <p:cNvPr id="5" name="Arrow: Curved Down 4">
              <a:extLst>
                <a:ext uri="{FF2B5EF4-FFF2-40B4-BE49-F238E27FC236}">
                  <a16:creationId xmlns:a16="http://schemas.microsoft.com/office/drawing/2014/main" id="{E95EF9DF-D56A-C95F-F65D-F64EAC9A08C6}"/>
                </a:ext>
              </a:extLst>
            </p:cNvPr>
            <p:cNvSpPr/>
            <p:nvPr/>
          </p:nvSpPr>
          <p:spPr>
            <a:xfrm>
              <a:off x="7434072" y="1968972"/>
              <a:ext cx="3575304" cy="359853"/>
            </a:xfrm>
            <a:prstGeom prst="curvedDownArrow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6" name="Arrow: Curved Down 5">
              <a:extLst>
                <a:ext uri="{FF2B5EF4-FFF2-40B4-BE49-F238E27FC236}">
                  <a16:creationId xmlns:a16="http://schemas.microsoft.com/office/drawing/2014/main" id="{03424C5E-1D00-CAF0-FC50-3DE63EEFE80A}"/>
                </a:ext>
              </a:extLst>
            </p:cNvPr>
            <p:cNvSpPr/>
            <p:nvPr/>
          </p:nvSpPr>
          <p:spPr>
            <a:xfrm rot="10800000">
              <a:off x="7434072" y="2936279"/>
              <a:ext cx="3456432" cy="359853"/>
            </a:xfrm>
            <a:prstGeom prst="curvedDownArrow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90048CE3-901F-3673-F56C-BF243C63A59E}"/>
                </a:ext>
              </a:extLst>
            </p:cNvPr>
            <p:cNvSpPr txBox="1"/>
            <p:nvPr/>
          </p:nvSpPr>
          <p:spPr>
            <a:xfrm>
              <a:off x="7008314" y="2447886"/>
              <a:ext cx="80021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+mj-lt"/>
                </a:rPr>
                <a:t>Object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93E3B232-9853-0832-D096-F569B96AE3C0}"/>
                </a:ext>
              </a:extLst>
            </p:cNvPr>
            <p:cNvSpPr txBox="1"/>
            <p:nvPr/>
          </p:nvSpPr>
          <p:spPr>
            <a:xfrm>
              <a:off x="10580162" y="2436075"/>
              <a:ext cx="62068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+mj-lt"/>
                </a:rPr>
                <a:t>Data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815F3B5A-13C7-3935-D977-50EE285E823C}"/>
                </a:ext>
              </a:extLst>
            </p:cNvPr>
            <p:cNvSpPr txBox="1"/>
            <p:nvPr/>
          </p:nvSpPr>
          <p:spPr>
            <a:xfrm>
              <a:off x="7946778" y="3296133"/>
              <a:ext cx="170431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+mj-lt"/>
                </a:rPr>
                <a:t>Inverse Problem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C20528C6-A32D-62F8-348E-2D06EBEB1DCB}"/>
                </a:ext>
              </a:extLst>
            </p:cNvPr>
            <p:cNvSpPr txBox="1"/>
            <p:nvPr/>
          </p:nvSpPr>
          <p:spPr>
            <a:xfrm>
              <a:off x="7998075" y="1523054"/>
              <a:ext cx="160172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+mj-lt"/>
                </a:rPr>
                <a:t>Direct Problem</a:t>
              </a:r>
            </a:p>
          </p:txBody>
        </p:sp>
      </p:grpSp>
      <p:pic>
        <p:nvPicPr>
          <p:cNvPr id="13" name="Picture 12">
            <a:extLst>
              <a:ext uri="{FF2B5EF4-FFF2-40B4-BE49-F238E27FC236}">
                <a16:creationId xmlns:a16="http://schemas.microsoft.com/office/drawing/2014/main" id="{AB4C5987-68B4-B8DC-F069-AF684E9BB6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1262" y="1973453"/>
            <a:ext cx="2987299" cy="291109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93118202-C20A-2FA6-F23A-494013CF77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02753" y="2103004"/>
            <a:ext cx="2781541" cy="278154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0C33FB6A-41D9-873E-EBE0-A8DC44D1A2E4}"/>
              </a:ext>
            </a:extLst>
          </p:cNvPr>
          <p:cNvSpPr txBox="1"/>
          <p:nvPr/>
        </p:nvSpPr>
        <p:spPr>
          <a:xfrm>
            <a:off x="1855360" y="4813871"/>
            <a:ext cx="190468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+mj-lt"/>
              </a:rPr>
              <a:t>Object – Original Photo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002462A-EBF0-E3BA-EB18-1A59299D7925}"/>
              </a:ext>
            </a:extLst>
          </p:cNvPr>
          <p:cNvSpPr txBox="1"/>
          <p:nvPr/>
        </p:nvSpPr>
        <p:spPr>
          <a:xfrm>
            <a:off x="8431953" y="4885065"/>
            <a:ext cx="17508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+mj-lt"/>
              </a:rPr>
              <a:t>Data – Blurred photo 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BC8DFD5-4229-7462-1CBC-CB707399CA3C}"/>
              </a:ext>
            </a:extLst>
          </p:cNvPr>
          <p:cNvSpPr txBox="1"/>
          <p:nvPr/>
        </p:nvSpPr>
        <p:spPr>
          <a:xfrm>
            <a:off x="5017491" y="2906882"/>
            <a:ext cx="170591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>
                <a:latin typeface="+mj-lt"/>
              </a:rPr>
              <a:t>Gaussian blur algorithm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AD68B476-3996-D807-60EE-B576889007D2}"/>
              </a:ext>
            </a:extLst>
          </p:cNvPr>
          <p:cNvCxnSpPr/>
          <p:nvPr/>
        </p:nvCxnSpPr>
        <p:spPr>
          <a:xfrm>
            <a:off x="4294632" y="3227993"/>
            <a:ext cx="324612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4AC881A4-39B9-7856-8A50-A825A70219BF}"/>
              </a:ext>
            </a:extLst>
          </p:cNvPr>
          <p:cNvCxnSpPr>
            <a:cxnSpLocks/>
          </p:cNvCxnSpPr>
          <p:nvPr/>
        </p:nvCxnSpPr>
        <p:spPr>
          <a:xfrm flipH="1" flipV="1">
            <a:off x="4238561" y="4223424"/>
            <a:ext cx="3263777" cy="288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2F815E76-E075-959D-170B-E6B1DEE9661E}"/>
              </a:ext>
            </a:extLst>
          </p:cNvPr>
          <p:cNvSpPr txBox="1"/>
          <p:nvPr/>
        </p:nvSpPr>
        <p:spPr>
          <a:xfrm>
            <a:off x="4897265" y="3945321"/>
            <a:ext cx="194636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>
                <a:latin typeface="+mj-lt"/>
              </a:rPr>
              <a:t>Image sharpening algorithm</a:t>
            </a:r>
          </a:p>
        </p:txBody>
      </p:sp>
    </p:spTree>
    <p:extLst>
      <p:ext uri="{BB962C8B-B14F-4D97-AF65-F5344CB8AC3E}">
        <p14:creationId xmlns:p14="http://schemas.microsoft.com/office/powerpoint/2010/main" val="35415815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0B314A-831E-57EC-276C-6075D4EC9E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Definitions [2]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2B3B243-6182-D01D-A787-7CBEE284C03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000" i="1" u="sng" dirty="0"/>
                  <a:t>Jacques Hadamard’s Well-Posed Problem Conditions</a:t>
                </a:r>
              </a:p>
              <a:p>
                <a:pPr marL="0" indent="0">
                  <a:buNone/>
                </a:pPr>
                <a:r>
                  <a:rPr lang="en-US" sz="2000" dirty="0"/>
                  <a:t>A problem is defined as </a:t>
                </a:r>
                <a:r>
                  <a:rPr lang="en-US" sz="2000" b="1" dirty="0"/>
                  <a:t>well-posed</a:t>
                </a:r>
                <a:r>
                  <a:rPr lang="en-US" sz="2000" dirty="0"/>
                  <a:t> if </a:t>
                </a:r>
                <a:r>
                  <a:rPr lang="en-US" sz="2000" u="sng" dirty="0"/>
                  <a:t>all</a:t>
                </a:r>
                <a:r>
                  <a:rPr lang="en-US" sz="2000" dirty="0"/>
                  <a:t> the following conditions hold:</a:t>
                </a:r>
                <a:endParaRPr lang="en-US" sz="2000" u="sng" dirty="0"/>
              </a:p>
              <a:p>
                <a:pPr marL="457200" indent="-457200">
                  <a:buAutoNum type="arabicPeriod"/>
                </a:pPr>
                <a:r>
                  <a:rPr lang="en-US" sz="2000" dirty="0"/>
                  <a:t>Existence – a solution must always exist for the problem</a:t>
                </a:r>
              </a:p>
              <a:p>
                <a:pPr marL="457200" indent="-457200">
                  <a:buAutoNum type="arabicPeriod"/>
                </a:pPr>
                <a:r>
                  <a:rPr lang="en-US" sz="2000" dirty="0"/>
                  <a:t>Uniqueness – only one solution for each problem</a:t>
                </a:r>
              </a:p>
              <a:p>
                <a:pPr marL="457200" indent="-457200">
                  <a:buAutoNum type="arabicPeriod"/>
                </a:pPr>
                <a:r>
                  <a:rPr lang="en-US" sz="2000" dirty="0"/>
                  <a:t>Stability – small changes in initial conditions lead to small changes in the solution</a:t>
                </a:r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r>
                  <a:rPr lang="en-US" sz="2000" dirty="0"/>
                  <a:t>If any conditions do not hold, the problem is defined as </a:t>
                </a:r>
                <a:r>
                  <a:rPr lang="en-US" sz="2000" b="1" dirty="0"/>
                  <a:t>ill-posed</a:t>
                </a:r>
                <a:r>
                  <a:rPr lang="en-US" sz="2000" dirty="0"/>
                  <a:t>.</a:t>
                </a:r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r>
                  <a:rPr lang="en-US" sz="2000" dirty="0"/>
                  <a:t>Mathematically: input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000" dirty="0"/>
                  <a:t> , find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endParaRPr lang="en-US" sz="2000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2B3B243-6182-D01D-A787-7CBEE284C03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38" t="-15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474E5E-D961-7725-C899-CC2F662E66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5F4311-C1C1-468E-90BA-469E1A493750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56322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B7E36B-F203-DD4F-D7A7-1266C681A0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AF4D94-A1BA-5A48-086A-CB9A31B715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Definitions [3]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3BD7F75-2879-CA2B-B12F-2D16365CE1A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000" dirty="0"/>
                  <a:t>A problem is defined as </a:t>
                </a:r>
                <a:r>
                  <a:rPr lang="en-US" sz="2000" b="1" dirty="0"/>
                  <a:t>ill-posed</a:t>
                </a:r>
                <a:r>
                  <a:rPr lang="en-US" sz="2000" dirty="0"/>
                  <a:t> if </a:t>
                </a:r>
                <a:r>
                  <a:rPr lang="en-US" sz="2000" u="sng" dirty="0"/>
                  <a:t>any</a:t>
                </a:r>
                <a:r>
                  <a:rPr lang="en-US" sz="2000" dirty="0"/>
                  <a:t> the following conditions hold:</a:t>
                </a:r>
                <a:endParaRPr lang="en-US" sz="2000" u="sng" dirty="0"/>
              </a:p>
              <a:p>
                <a:pPr marL="457200" indent="-457200">
                  <a:buAutoNum type="arabicPeriod"/>
                </a:pPr>
                <a:r>
                  <a:rPr lang="en-US" sz="2000" dirty="0"/>
                  <a:t>Existence - a solution may not exist</a:t>
                </a:r>
              </a:p>
              <a:p>
                <a:pPr marL="457200" indent="-457200">
                  <a:buAutoNum type="arabicPeriod"/>
                </a:pPr>
                <a:r>
                  <a:rPr lang="en-US" sz="2000" dirty="0"/>
                  <a:t>Uniqueness - there may be more than one solution</a:t>
                </a:r>
              </a:p>
              <a:p>
                <a:pPr marL="457200" indent="-457200">
                  <a:buAutoNum type="arabicPeriod"/>
                </a:pPr>
                <a:r>
                  <a:rPr lang="en-US" sz="2000" dirty="0"/>
                  <a:t>Stability - small changes in the initial conditions lead to big changes in the solution</a:t>
                </a:r>
              </a:p>
              <a:p>
                <a:pPr marL="457200" indent="-457200">
                  <a:buAutoNum type="arabicPeriod"/>
                </a:pPr>
                <a:endParaRPr lang="en-US" sz="2000" dirty="0"/>
              </a:p>
              <a:p>
                <a:pPr marL="0" indent="0">
                  <a:buNone/>
                </a:pPr>
                <a:r>
                  <a:rPr lang="en-US" sz="2000" dirty="0"/>
                  <a:t>Inverse problems </a:t>
                </a:r>
                <a:r>
                  <a:rPr lang="en-US" sz="2000" i="1" dirty="0"/>
                  <a:t>tend</a:t>
                </a:r>
                <a:r>
                  <a:rPr lang="en-US" sz="2000" dirty="0"/>
                  <a:t> to be ill-posed problems. </a:t>
                </a:r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r>
                  <a:rPr lang="en-US" sz="2000" dirty="0"/>
                  <a:t>Mathematically: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en-US" sz="2000" dirty="0"/>
                  <a:t> , recover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000" dirty="0"/>
                  <a:t> </a:t>
                </a:r>
              </a:p>
              <a:p>
                <a:pPr marL="0" indent="0">
                  <a:buNone/>
                </a:pPr>
                <a:r>
                  <a:rPr lang="en-US" sz="2000" dirty="0"/>
                  <a:t>- Where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sz="2000" dirty="0"/>
                  <a:t> is observed data and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en-US" sz="2000" dirty="0"/>
                  <a:t> is noise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3BD7F75-2879-CA2B-B12F-2D16365CE1A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38" t="-15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94902F-E0B3-95F7-161A-7CAFC29CBA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5F4311-C1C1-468E-90BA-469E1A493750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73307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A29D2C-D939-D479-FB22-1FFA3D9671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9CE479-B9CD-96CD-FD7C-5654CF995C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Example 2: An Everyday Problem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03C1F1-B582-1F3C-5B0C-640124887A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5F4311-C1C1-468E-90BA-469E1A493750}" type="slidenum">
              <a:rPr lang="en-US" smtClean="0"/>
              <a:t>6</a:t>
            </a:fld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8E64E0D-9240-85B1-827D-598C31713112}"/>
              </a:ext>
            </a:extLst>
          </p:cNvPr>
          <p:cNvSpPr txBox="1"/>
          <p:nvPr/>
        </p:nvSpPr>
        <p:spPr>
          <a:xfrm>
            <a:off x="738700" y="1490964"/>
            <a:ext cx="451910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u="sng" dirty="0">
                <a:latin typeface="+mj-lt"/>
              </a:rPr>
              <a:t>Direct Problem</a:t>
            </a:r>
            <a:r>
              <a:rPr lang="en-US" sz="1600" dirty="0">
                <a:latin typeface="+mj-lt"/>
              </a:rPr>
              <a:t>: What year were you born?</a:t>
            </a:r>
          </a:p>
          <a:p>
            <a:endParaRPr lang="en-US" sz="1600" dirty="0">
              <a:latin typeface="+mj-lt"/>
            </a:endParaRPr>
          </a:p>
          <a:p>
            <a:pPr marL="342900" indent="-342900">
              <a:buAutoNum type="alphaUcPeriod"/>
            </a:pPr>
            <a:r>
              <a:rPr lang="en-US" sz="1600" dirty="0">
                <a:latin typeface="+mj-lt"/>
              </a:rPr>
              <a:t>1980</a:t>
            </a:r>
          </a:p>
          <a:p>
            <a:pPr marL="342900" indent="-342900">
              <a:buAutoNum type="alphaUcPeriod"/>
            </a:pPr>
            <a:r>
              <a:rPr lang="en-US" sz="1600" dirty="0">
                <a:latin typeface="+mj-lt"/>
              </a:rPr>
              <a:t>1990</a:t>
            </a:r>
          </a:p>
          <a:p>
            <a:pPr marL="342900" indent="-342900">
              <a:buAutoNum type="alphaUcPeriod"/>
            </a:pPr>
            <a:r>
              <a:rPr lang="en-US" sz="1600" dirty="0">
                <a:latin typeface="+mj-lt"/>
              </a:rPr>
              <a:t>2000</a:t>
            </a:r>
          </a:p>
          <a:p>
            <a:pPr marL="342900" indent="-342900">
              <a:buAutoNum type="alphaUcPeriod"/>
            </a:pPr>
            <a:r>
              <a:rPr lang="en-US" sz="1600" dirty="0">
                <a:latin typeface="+mj-lt"/>
              </a:rPr>
              <a:t>2003</a:t>
            </a:r>
          </a:p>
          <a:p>
            <a:pPr marL="342900" indent="-342900">
              <a:buAutoNum type="alphaUcPeriod"/>
            </a:pPr>
            <a:endParaRPr lang="en-US" sz="1600" dirty="0">
              <a:latin typeface="+mj-lt"/>
            </a:endParaRPr>
          </a:p>
          <a:p>
            <a:r>
              <a:rPr lang="en-US" sz="1600" dirty="0">
                <a:latin typeface="+mj-lt"/>
              </a:rPr>
              <a:t>A solution does exist, D: 2003. This solution is unique— I was not born in any other year but 2003. It is a conclusive answer.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AD98D926-1841-DE38-940A-E31343704E0C}"/>
              </a:ext>
            </a:extLst>
          </p:cNvPr>
          <p:cNvSpPr txBox="1"/>
          <p:nvPr/>
        </p:nvSpPr>
        <p:spPr>
          <a:xfrm>
            <a:off x="6096001" y="1490964"/>
            <a:ext cx="525780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u="sng" dirty="0">
                <a:latin typeface="+mj-lt"/>
              </a:rPr>
              <a:t>Inverse Problem</a:t>
            </a:r>
            <a:r>
              <a:rPr lang="en-US" sz="1600" dirty="0">
                <a:latin typeface="+mj-lt"/>
              </a:rPr>
              <a:t>: It was in 2003.</a:t>
            </a:r>
          </a:p>
          <a:p>
            <a:endParaRPr lang="en-US" sz="1600" dirty="0">
              <a:latin typeface="+mj-lt"/>
            </a:endParaRPr>
          </a:p>
          <a:p>
            <a:pPr marL="342900" indent="-342900">
              <a:buAutoNum type="alphaUcPeriod"/>
            </a:pPr>
            <a:r>
              <a:rPr lang="en-US" sz="1600" dirty="0">
                <a:latin typeface="+mj-lt"/>
              </a:rPr>
              <a:t>When I was born</a:t>
            </a:r>
          </a:p>
          <a:p>
            <a:pPr marL="342900" indent="-342900">
              <a:buAutoNum type="alphaUcPeriod"/>
            </a:pPr>
            <a:r>
              <a:rPr lang="en-US" sz="1600" dirty="0">
                <a:latin typeface="+mj-lt"/>
              </a:rPr>
              <a:t>When Finding Nemo came out</a:t>
            </a:r>
          </a:p>
          <a:p>
            <a:pPr marL="342900" indent="-342900">
              <a:buAutoNum type="alphaUcPeriod"/>
            </a:pPr>
            <a:r>
              <a:rPr lang="en-US" sz="1600" dirty="0">
                <a:latin typeface="+mj-lt"/>
              </a:rPr>
              <a:t>When the US invaded Iraq</a:t>
            </a:r>
          </a:p>
          <a:p>
            <a:pPr marL="342900" indent="-342900">
              <a:buAutoNum type="alphaUcPeriod"/>
            </a:pPr>
            <a:r>
              <a:rPr lang="en-US" sz="1600" dirty="0">
                <a:latin typeface="+mj-lt"/>
              </a:rPr>
              <a:t>When Lebron James was drafted</a:t>
            </a:r>
          </a:p>
          <a:p>
            <a:pPr marL="342900" indent="-342900">
              <a:buAutoNum type="alphaUcPeriod"/>
            </a:pPr>
            <a:endParaRPr lang="en-US" sz="1600" dirty="0">
              <a:latin typeface="+mj-lt"/>
            </a:endParaRPr>
          </a:p>
          <a:p>
            <a:r>
              <a:rPr lang="en-US" sz="1600" dirty="0">
                <a:latin typeface="+mj-lt"/>
              </a:rPr>
              <a:t>There are many solutions to this problem. The solution is not unique as all four of these events occurred in 2003. It is an inconclusive answer that </a:t>
            </a:r>
            <a:r>
              <a:rPr lang="en-US" sz="1600" i="1" dirty="0">
                <a:latin typeface="+mj-lt"/>
              </a:rPr>
              <a:t>requires more information</a:t>
            </a:r>
            <a:r>
              <a:rPr lang="en-US" sz="1600" dirty="0">
                <a:latin typeface="+mj-lt"/>
              </a:rPr>
              <a:t>. </a:t>
            </a:r>
          </a:p>
          <a:p>
            <a:pPr marL="342900" indent="-342900">
              <a:buAutoNum type="alphaUcPeriod"/>
            </a:pPr>
            <a:endParaRPr lang="en-US" sz="1600" dirty="0">
              <a:latin typeface="+mj-lt"/>
            </a:endParaRPr>
          </a:p>
          <a:p>
            <a:pPr marL="342900" indent="-342900">
              <a:buAutoNum type="alphaUcPeriod"/>
            </a:pPr>
            <a:endParaRPr lang="en-US" sz="16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0086840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2605ED-D038-EF3A-A4F9-DBFE434ED9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Example 3: Simple Beam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ABA006-5308-7A59-BF22-F9894F4F47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5F4311-C1C1-468E-90BA-469E1A493750}" type="slidenum">
              <a:rPr lang="en-US" smtClean="0"/>
              <a:t>7</a:t>
            </a:fld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E7C57D4-D053-3FA2-D7A3-DA7A25B2B1F7}"/>
                  </a:ext>
                </a:extLst>
              </p:cNvPr>
              <p:cNvSpPr txBox="1"/>
              <p:nvPr/>
            </p:nvSpPr>
            <p:spPr>
              <a:xfrm>
                <a:off x="872175" y="4317715"/>
                <a:ext cx="1478866" cy="9554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𝑚𝑎𝑥</m:t>
                          </m:r>
                        </m:sub>
                      </m:sSub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sSup>
                            <m:sSup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p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</m:num>
                        <m:den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48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𝐸𝐼</m:t>
                          </m:r>
                        </m:den>
                      </m:f>
                    </m:oMath>
                  </m:oMathPara>
                </a14:m>
                <a:endParaRPr lang="en-US" sz="1400" dirty="0"/>
              </a:p>
              <a:p>
                <a:pPr/>
                <a:endParaRPr lang="en-US" sz="1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𝑚𝑎𝑥</m:t>
                          </m:r>
                        </m:sub>
                      </m:sSub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=0.012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𝑖𝑛</m:t>
                      </m:r>
                    </m:oMath>
                  </m:oMathPara>
                </a14:m>
                <a:endParaRPr lang="en-US" sz="1400" dirty="0"/>
              </a:p>
            </p:txBody>
          </p:sp>
        </mc:Choice>
        <mc:Fallback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E7C57D4-D053-3FA2-D7A3-DA7A25B2B1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2175" y="4317715"/>
                <a:ext cx="1478866" cy="95545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7389D2F6-3E17-DE2E-7F1C-4EFF1886F0F5}"/>
                  </a:ext>
                </a:extLst>
              </p:cNvPr>
              <p:cNvSpPr txBox="1"/>
              <p:nvPr/>
            </p:nvSpPr>
            <p:spPr>
              <a:xfrm>
                <a:off x="738700" y="1490964"/>
                <a:ext cx="419906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u="sng" dirty="0">
                    <a:latin typeface="+mj-lt"/>
                  </a:rPr>
                  <a:t>Direct Problem</a:t>
                </a:r>
                <a:r>
                  <a:rPr lang="en-US" sz="1400" dirty="0">
                    <a:latin typeface="+mj-lt"/>
                  </a:rPr>
                  <a:t>: Given P = 1kip </a:t>
                </a:r>
                <a14:m>
                  <m:oMath xmlns:m="http://schemas.openxmlformats.org/officeDocument/2006/math"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sz="1400" dirty="0">
                    <a:latin typeface="+mj-lt"/>
                  </a:rPr>
                  <a:t> find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𝑚𝑎𝑥</m:t>
                        </m:r>
                      </m:sub>
                    </m:sSub>
                  </m:oMath>
                </a14:m>
                <a:endParaRPr lang="en-US" sz="140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7389D2F6-3E17-DE2E-7F1C-4EFF1886F0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8700" y="1490964"/>
                <a:ext cx="4199060" cy="307777"/>
              </a:xfrm>
              <a:prstGeom prst="rect">
                <a:avLst/>
              </a:prstGeom>
              <a:blipFill>
                <a:blip r:embed="rId3"/>
                <a:stretch>
                  <a:fillRect l="-435" t="-4000" b="-2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2" name="Group 61">
            <a:extLst>
              <a:ext uri="{FF2B5EF4-FFF2-40B4-BE49-F238E27FC236}">
                <a16:creationId xmlns:a16="http://schemas.microsoft.com/office/drawing/2014/main" id="{AE732E19-D314-573C-02C7-3C7F65A631BC}"/>
              </a:ext>
            </a:extLst>
          </p:cNvPr>
          <p:cNvGrpSpPr/>
          <p:nvPr/>
        </p:nvGrpSpPr>
        <p:grpSpPr>
          <a:xfrm>
            <a:off x="838200" y="1995445"/>
            <a:ext cx="4228832" cy="2274428"/>
            <a:chOff x="1251331" y="1981432"/>
            <a:chExt cx="3272155" cy="1939433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6E8325AE-DED3-E213-B98C-9A4E3E480D92}"/>
                </a:ext>
              </a:extLst>
            </p:cNvPr>
            <p:cNvCxnSpPr>
              <a:cxnSpLocks/>
            </p:cNvCxnSpPr>
            <p:nvPr/>
          </p:nvCxnSpPr>
          <p:spPr>
            <a:xfrm>
              <a:off x="1251331" y="3148491"/>
              <a:ext cx="3272155" cy="0"/>
            </a:xfrm>
            <a:prstGeom prst="line">
              <a:avLst/>
            </a:prstGeom>
            <a:ln w="571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31EBE27E-CAE8-08A3-2C4D-2A46B6C62D77}"/>
                </a:ext>
              </a:extLst>
            </p:cNvPr>
            <p:cNvSpPr/>
            <p:nvPr/>
          </p:nvSpPr>
          <p:spPr>
            <a:xfrm>
              <a:off x="4189805" y="3148491"/>
              <a:ext cx="268785" cy="287394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Isosceles Triangle 9">
              <a:extLst>
                <a:ext uri="{FF2B5EF4-FFF2-40B4-BE49-F238E27FC236}">
                  <a16:creationId xmlns:a16="http://schemas.microsoft.com/office/drawing/2014/main" id="{931989D5-2FAF-31AE-6ACF-0279BEDE4A17}"/>
                </a:ext>
              </a:extLst>
            </p:cNvPr>
            <p:cNvSpPr/>
            <p:nvPr/>
          </p:nvSpPr>
          <p:spPr>
            <a:xfrm>
              <a:off x="1277620" y="3148491"/>
              <a:ext cx="246888" cy="261741"/>
            </a:xfrm>
            <a:prstGeom prst="triangle">
              <a:avLst/>
            </a:prstGeom>
            <a:solidFill>
              <a:schemeClr val="dk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10F14CBA-F8AE-662F-CF4E-1B6D17206F2C}"/>
                </a:ext>
              </a:extLst>
            </p:cNvPr>
            <p:cNvCxnSpPr/>
            <p:nvPr/>
          </p:nvCxnSpPr>
          <p:spPr>
            <a:xfrm>
              <a:off x="2797315" y="2188370"/>
              <a:ext cx="0" cy="96012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2DD661CD-0A86-1F05-8243-BFCE8068CF65}"/>
                </a:ext>
              </a:extLst>
            </p:cNvPr>
            <p:cNvCxnSpPr>
              <a:cxnSpLocks/>
            </p:cNvCxnSpPr>
            <p:nvPr/>
          </p:nvCxnSpPr>
          <p:spPr>
            <a:xfrm>
              <a:off x="1392891" y="3664365"/>
              <a:ext cx="2907792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42544661-510E-BE9A-2811-6ABFFA9A2BEE}"/>
                </a:ext>
              </a:extLst>
            </p:cNvPr>
            <p:cNvSpPr txBox="1"/>
            <p:nvPr/>
          </p:nvSpPr>
          <p:spPr>
            <a:xfrm>
              <a:off x="2692874" y="3684664"/>
              <a:ext cx="530428" cy="23620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+mj-lt"/>
                </a:rPr>
                <a:t>L = 10ft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9EDFEEE9-4719-B4E5-1D66-29738176C074}"/>
                </a:ext>
              </a:extLst>
            </p:cNvPr>
            <p:cNvSpPr txBox="1"/>
            <p:nvPr/>
          </p:nvSpPr>
          <p:spPr>
            <a:xfrm>
              <a:off x="2591957" y="1981432"/>
              <a:ext cx="701539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+mj-lt"/>
                </a:rPr>
                <a:t>P = 1kip</a:t>
              </a:r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426F3BCA-CD29-8435-C781-AD20DA9B3B44}"/>
                </a:ext>
              </a:extLst>
            </p:cNvPr>
            <p:cNvSpPr/>
            <p:nvPr/>
          </p:nvSpPr>
          <p:spPr>
            <a:xfrm>
              <a:off x="1435608" y="3168789"/>
              <a:ext cx="2812415" cy="397404"/>
            </a:xfrm>
            <a:custGeom>
              <a:avLst/>
              <a:gdLst>
                <a:gd name="csX0" fmla="*/ 0 w 2889504"/>
                <a:gd name="csY0" fmla="*/ 18288 h 420657"/>
                <a:gd name="csX1" fmla="*/ 1399032 w 2889504"/>
                <a:gd name="csY1" fmla="*/ 420624 h 420657"/>
                <a:gd name="csX2" fmla="*/ 2889504 w 2889504"/>
                <a:gd name="csY2" fmla="*/ 0 h 42065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889504" h="420657">
                  <a:moveTo>
                    <a:pt x="0" y="18288"/>
                  </a:moveTo>
                  <a:cubicBezTo>
                    <a:pt x="458724" y="220980"/>
                    <a:pt x="917448" y="423672"/>
                    <a:pt x="1399032" y="420624"/>
                  </a:cubicBezTo>
                  <a:cubicBezTo>
                    <a:pt x="1880616" y="417576"/>
                    <a:pt x="2631948" y="92964"/>
                    <a:pt x="2889504" y="0"/>
                  </a:cubicBezTo>
                </a:path>
              </a:pathLst>
            </a:custGeom>
            <a:ln w="28575">
              <a:solidFill>
                <a:schemeClr val="tx2">
                  <a:lumMod val="50000"/>
                  <a:lumOff val="50000"/>
                </a:schemeClr>
              </a:solidFill>
              <a:prstDash val="sysDash"/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2BF41112-A617-D58F-2843-A66808D45CAA}"/>
                    </a:ext>
                  </a:extLst>
                </p:cNvPr>
                <p:cNvSpPr txBox="1"/>
                <p:nvPr/>
              </p:nvSpPr>
              <p:spPr>
                <a:xfrm>
                  <a:off x="2709843" y="3216928"/>
                  <a:ext cx="759952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200" b="0" i="1" smtClean="0">
                                <a:solidFill>
                                  <a:schemeClr val="tx2">
                                    <a:lumMod val="50000"/>
                                    <a:lumOff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b="0" i="1" smtClean="0">
                                <a:solidFill>
                                  <a:schemeClr val="tx2">
                                    <a:lumMod val="50000"/>
                                    <a:lumOff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𝛿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1200" b="0" i="0" smtClean="0">
                                <a:solidFill>
                                  <a:schemeClr val="tx2">
                                    <a:lumMod val="50000"/>
                                    <a:lumOff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max</m:t>
                            </m:r>
                          </m:sub>
                        </m:sSub>
                        <m:r>
                          <a:rPr lang="en-US" sz="1200" b="0" i="0" smtClean="0">
                            <a:solidFill>
                              <a:schemeClr val="tx2">
                                <a:lumMod val="50000"/>
                                <a:lumOff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=?</m:t>
                        </m:r>
                      </m:oMath>
                    </m:oMathPara>
                  </a14:m>
                  <a:endParaRPr lang="en-US" sz="1200" dirty="0">
                    <a:solidFill>
                      <a:schemeClr val="tx2">
                        <a:lumMod val="50000"/>
                        <a:lumOff val="50000"/>
                      </a:schemeClr>
                    </a:solidFill>
                    <a:latin typeface="+mj-lt"/>
                  </a:endParaRPr>
                </a:p>
              </p:txBody>
            </p:sp>
          </mc:Choice>
          <mc:Fallback xmlns="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2BF41112-A617-D58F-2843-A66808D45CA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09843" y="3216928"/>
                  <a:ext cx="759952" cy="276999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5AA1EA16-884C-B146-42BE-6001089CF373}"/>
                </a:ext>
              </a:extLst>
            </p:cNvPr>
            <p:cNvCxnSpPr/>
            <p:nvPr/>
          </p:nvCxnSpPr>
          <p:spPr>
            <a:xfrm>
              <a:off x="1393653" y="3560626"/>
              <a:ext cx="0" cy="207478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061C749F-15B5-98BF-0DA7-19827849CD80}"/>
                </a:ext>
              </a:extLst>
            </p:cNvPr>
            <p:cNvCxnSpPr/>
            <p:nvPr/>
          </p:nvCxnSpPr>
          <p:spPr>
            <a:xfrm>
              <a:off x="4300683" y="3560626"/>
              <a:ext cx="0" cy="207478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0D8CBFD8-4CE9-7E51-33C1-DCEA86FD3D3F}"/>
                </a:ext>
              </a:extLst>
            </p:cNvPr>
            <p:cNvCxnSpPr>
              <a:cxnSpLocks/>
              <a:endCxn id="21" idx="1"/>
            </p:cNvCxnSpPr>
            <p:nvPr/>
          </p:nvCxnSpPr>
          <p:spPr>
            <a:xfrm>
              <a:off x="2797315" y="3168789"/>
              <a:ext cx="0" cy="397373"/>
            </a:xfrm>
            <a:prstGeom prst="line">
              <a:avLst/>
            </a:prstGeom>
            <a:ln w="9525">
              <a:solidFill>
                <a:schemeClr val="tx2">
                  <a:lumMod val="50000"/>
                  <a:lumOff val="50000"/>
                </a:schemeClr>
              </a:solidFill>
              <a:prstDash val="dash"/>
            </a:ln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572E8742-149B-EF35-A281-96D220FBCDD6}"/>
                  </a:ext>
                </a:extLst>
              </p:cNvPr>
              <p:cNvSpPr txBox="1"/>
              <p:nvPr/>
            </p:nvSpPr>
            <p:spPr>
              <a:xfrm>
                <a:off x="6575371" y="1490963"/>
                <a:ext cx="4959401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u="sng" dirty="0">
                    <a:latin typeface="+mj-lt"/>
                  </a:rPr>
                  <a:t>Inverse Problem</a:t>
                </a:r>
                <a:r>
                  <a:rPr lang="en-US" sz="1400" dirty="0">
                    <a:latin typeface="+mj-lt"/>
                  </a:rPr>
                  <a:t>: Given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𝑚𝑎𝑥</m:t>
                        </m:r>
                      </m:sub>
                    </m:sSub>
                  </m:oMath>
                </a14:m>
                <a:r>
                  <a:rPr lang="en-US" sz="1400" dirty="0">
                    <a:latin typeface="+mj-lt"/>
                  </a:rPr>
                  <a:t> = 1in </a:t>
                </a:r>
                <a14:m>
                  <m:oMath xmlns:m="http://schemas.openxmlformats.org/officeDocument/2006/math"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sz="1400" dirty="0">
                    <a:latin typeface="+mj-lt"/>
                  </a:rPr>
                  <a:t> find P</a:t>
                </a:r>
              </a:p>
            </p:txBody>
          </p:sp>
        </mc:Choice>
        <mc:Fallback xmlns="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572E8742-149B-EF35-A281-96D220FBCD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75371" y="1490963"/>
                <a:ext cx="4959401" cy="307777"/>
              </a:xfrm>
              <a:prstGeom prst="rect">
                <a:avLst/>
              </a:prstGeom>
              <a:blipFill>
                <a:blip r:embed="rId5"/>
                <a:stretch>
                  <a:fillRect l="-369" t="-4000" b="-2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3" name="Group 62">
            <a:extLst>
              <a:ext uri="{FF2B5EF4-FFF2-40B4-BE49-F238E27FC236}">
                <a16:creationId xmlns:a16="http://schemas.microsoft.com/office/drawing/2014/main" id="{F687D328-C359-4A67-B44E-B79F060926AB}"/>
              </a:ext>
            </a:extLst>
          </p:cNvPr>
          <p:cNvGrpSpPr/>
          <p:nvPr/>
        </p:nvGrpSpPr>
        <p:grpSpPr>
          <a:xfrm>
            <a:off x="6680880" y="1962562"/>
            <a:ext cx="4228832" cy="2355153"/>
            <a:chOff x="1251331" y="1953394"/>
            <a:chExt cx="3272155" cy="2008269"/>
          </a:xfrm>
        </p:grpSpPr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7F984818-77DA-38E4-ABCD-0E32043DE5E4}"/>
                </a:ext>
              </a:extLst>
            </p:cNvPr>
            <p:cNvCxnSpPr>
              <a:cxnSpLocks/>
            </p:cNvCxnSpPr>
            <p:nvPr/>
          </p:nvCxnSpPr>
          <p:spPr>
            <a:xfrm>
              <a:off x="1251331" y="3148491"/>
              <a:ext cx="3272155" cy="0"/>
            </a:xfrm>
            <a:prstGeom prst="line">
              <a:avLst/>
            </a:prstGeom>
            <a:ln w="571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65" name="Oval 64">
              <a:extLst>
                <a:ext uri="{FF2B5EF4-FFF2-40B4-BE49-F238E27FC236}">
                  <a16:creationId xmlns:a16="http://schemas.microsoft.com/office/drawing/2014/main" id="{F8EA4AAC-CD8F-C0A6-D319-F3B5D4C8A0AC}"/>
                </a:ext>
              </a:extLst>
            </p:cNvPr>
            <p:cNvSpPr/>
            <p:nvPr/>
          </p:nvSpPr>
          <p:spPr>
            <a:xfrm>
              <a:off x="4189805" y="3148491"/>
              <a:ext cx="268785" cy="287394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6" name="Isosceles Triangle 65">
              <a:extLst>
                <a:ext uri="{FF2B5EF4-FFF2-40B4-BE49-F238E27FC236}">
                  <a16:creationId xmlns:a16="http://schemas.microsoft.com/office/drawing/2014/main" id="{CFA2031B-C92D-85DD-F287-A8ECAEE7257D}"/>
                </a:ext>
              </a:extLst>
            </p:cNvPr>
            <p:cNvSpPr/>
            <p:nvPr/>
          </p:nvSpPr>
          <p:spPr>
            <a:xfrm>
              <a:off x="1277620" y="3148491"/>
              <a:ext cx="246888" cy="261741"/>
            </a:xfrm>
            <a:prstGeom prst="triangle">
              <a:avLst/>
            </a:prstGeom>
            <a:solidFill>
              <a:schemeClr val="dk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7" name="Straight Arrow Connector 66">
              <a:extLst>
                <a:ext uri="{FF2B5EF4-FFF2-40B4-BE49-F238E27FC236}">
                  <a16:creationId xmlns:a16="http://schemas.microsoft.com/office/drawing/2014/main" id="{B2A66B8F-E335-FB45-A60A-B23BB6D32856}"/>
                </a:ext>
              </a:extLst>
            </p:cNvPr>
            <p:cNvCxnSpPr/>
            <p:nvPr/>
          </p:nvCxnSpPr>
          <p:spPr>
            <a:xfrm>
              <a:off x="2797315" y="2188372"/>
              <a:ext cx="0" cy="96012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84FA15A2-16FB-1ED2-F415-B895229E7419}"/>
                </a:ext>
              </a:extLst>
            </p:cNvPr>
            <p:cNvCxnSpPr>
              <a:cxnSpLocks/>
            </p:cNvCxnSpPr>
            <p:nvPr/>
          </p:nvCxnSpPr>
          <p:spPr>
            <a:xfrm>
              <a:off x="1392891" y="3664365"/>
              <a:ext cx="2907792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53B60F15-4065-29D3-FDD6-D6575322FC2C}"/>
                </a:ext>
              </a:extLst>
            </p:cNvPr>
            <p:cNvSpPr txBox="1"/>
            <p:nvPr/>
          </p:nvSpPr>
          <p:spPr>
            <a:xfrm>
              <a:off x="2692874" y="3684664"/>
              <a:ext cx="61427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+mj-lt"/>
                </a:rPr>
                <a:t>L=10ft</a:t>
              </a: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ABC2E441-7F9B-AF24-B56B-47E9FF3F9ACE}"/>
                </a:ext>
              </a:extLst>
            </p:cNvPr>
            <p:cNvSpPr txBox="1"/>
            <p:nvPr/>
          </p:nvSpPr>
          <p:spPr>
            <a:xfrm>
              <a:off x="2615944" y="1953394"/>
              <a:ext cx="384065" cy="23620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solidFill>
                    <a:schemeClr val="tx2">
                      <a:lumMod val="50000"/>
                      <a:lumOff val="50000"/>
                    </a:schemeClr>
                  </a:solidFill>
                  <a:latin typeface="+mj-lt"/>
                </a:rPr>
                <a:t>P = ?</a:t>
              </a:r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2F31DEE6-E171-28A5-0EE3-7FA96FC22B59}"/>
                </a:ext>
              </a:extLst>
            </p:cNvPr>
            <p:cNvSpPr/>
            <p:nvPr/>
          </p:nvSpPr>
          <p:spPr>
            <a:xfrm>
              <a:off x="1435608" y="3168789"/>
              <a:ext cx="2812415" cy="397404"/>
            </a:xfrm>
            <a:custGeom>
              <a:avLst/>
              <a:gdLst>
                <a:gd name="csX0" fmla="*/ 0 w 2889504"/>
                <a:gd name="csY0" fmla="*/ 18288 h 420657"/>
                <a:gd name="csX1" fmla="*/ 1399032 w 2889504"/>
                <a:gd name="csY1" fmla="*/ 420624 h 420657"/>
                <a:gd name="csX2" fmla="*/ 2889504 w 2889504"/>
                <a:gd name="csY2" fmla="*/ 0 h 42065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889504" h="420657">
                  <a:moveTo>
                    <a:pt x="0" y="18288"/>
                  </a:moveTo>
                  <a:cubicBezTo>
                    <a:pt x="458724" y="220980"/>
                    <a:pt x="917448" y="423672"/>
                    <a:pt x="1399032" y="420624"/>
                  </a:cubicBezTo>
                  <a:cubicBezTo>
                    <a:pt x="1880616" y="417576"/>
                    <a:pt x="2631948" y="92964"/>
                    <a:pt x="2889504" y="0"/>
                  </a:cubicBezTo>
                </a:path>
              </a:pathLst>
            </a:custGeom>
            <a:ln w="28575">
              <a:solidFill>
                <a:schemeClr val="tx1"/>
              </a:solidFill>
              <a:prstDash val="sysDash"/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2" name="TextBox 71">
                  <a:extLst>
                    <a:ext uri="{FF2B5EF4-FFF2-40B4-BE49-F238E27FC236}">
                      <a16:creationId xmlns:a16="http://schemas.microsoft.com/office/drawing/2014/main" id="{A5F60896-810A-7BAB-7C8D-258D04A25AAF}"/>
                    </a:ext>
                  </a:extLst>
                </p:cNvPr>
                <p:cNvSpPr txBox="1"/>
                <p:nvPr/>
              </p:nvSpPr>
              <p:spPr>
                <a:xfrm>
                  <a:off x="2773259" y="3220756"/>
                  <a:ext cx="736476" cy="23620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𝛿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12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max</m:t>
                            </m:r>
                          </m:sub>
                        </m:sSub>
                        <m:r>
                          <a:rPr lang="en-US" sz="12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=1</m:t>
                        </m:r>
                        <m:r>
                          <m:rPr>
                            <m:sty m:val="p"/>
                          </m:rPr>
                          <a:rPr lang="en-US" sz="12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in</m:t>
                        </m:r>
                      </m:oMath>
                    </m:oMathPara>
                  </a14:m>
                  <a:endParaRPr lang="en-US" sz="1200" dirty="0">
                    <a:solidFill>
                      <a:schemeClr val="tx1"/>
                    </a:solidFill>
                    <a:latin typeface="+mj-lt"/>
                  </a:endParaRPr>
                </a:p>
              </p:txBody>
            </p:sp>
          </mc:Choice>
          <mc:Fallback xmlns="">
            <p:sp>
              <p:nvSpPr>
                <p:cNvPr id="72" name="TextBox 71">
                  <a:extLst>
                    <a:ext uri="{FF2B5EF4-FFF2-40B4-BE49-F238E27FC236}">
                      <a16:creationId xmlns:a16="http://schemas.microsoft.com/office/drawing/2014/main" id="{A5F60896-810A-7BAB-7C8D-258D04A25AA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73259" y="3220756"/>
                  <a:ext cx="736476" cy="236201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94C6BA57-4095-D68D-45CF-C75AA8333428}"/>
                </a:ext>
              </a:extLst>
            </p:cNvPr>
            <p:cNvCxnSpPr/>
            <p:nvPr/>
          </p:nvCxnSpPr>
          <p:spPr>
            <a:xfrm>
              <a:off x="1393653" y="3560626"/>
              <a:ext cx="0" cy="207478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6B1F8530-09BC-5B4A-2E3C-5F0B18B3039C}"/>
                </a:ext>
              </a:extLst>
            </p:cNvPr>
            <p:cNvCxnSpPr/>
            <p:nvPr/>
          </p:nvCxnSpPr>
          <p:spPr>
            <a:xfrm>
              <a:off x="4300683" y="3560626"/>
              <a:ext cx="0" cy="207478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07106F11-AA8B-A69F-EE37-D4F4DDDAC314}"/>
                </a:ext>
              </a:extLst>
            </p:cNvPr>
            <p:cNvCxnSpPr>
              <a:cxnSpLocks/>
              <a:endCxn id="71" idx="1"/>
            </p:cNvCxnSpPr>
            <p:nvPr/>
          </p:nvCxnSpPr>
          <p:spPr>
            <a:xfrm>
              <a:off x="2797315" y="3168789"/>
              <a:ext cx="0" cy="397373"/>
            </a:xfrm>
            <a:prstGeom prst="line">
              <a:avLst/>
            </a:prstGeom>
            <a:ln w="9525">
              <a:solidFill>
                <a:schemeClr val="tx1"/>
              </a:solidFill>
              <a:prstDash val="dash"/>
            </a:ln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68DF0B13-A518-BEFF-CE6D-5EF6A76717A9}"/>
                  </a:ext>
                </a:extLst>
              </p:cNvPr>
              <p:cNvSpPr txBox="1"/>
              <p:nvPr/>
            </p:nvSpPr>
            <p:spPr>
              <a:xfrm>
                <a:off x="7033925" y="4317715"/>
                <a:ext cx="1381340" cy="93134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48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𝐸𝐼</m:t>
                          </m:r>
                          <m:sSub>
                            <m:sSub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𝛿</m:t>
                              </m:r>
                            </m:e>
                            <m:sub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𝑚𝑎𝑥</m:t>
                              </m:r>
                            </m:sub>
                          </m:sSub>
                        </m:num>
                        <m:den>
                          <m:sSup>
                            <m:sSup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p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sz="1400" dirty="0"/>
              </a:p>
              <a:p>
                <a:pPr/>
                <a:endParaRPr lang="en-US" sz="1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=80.5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𝑘𝑖𝑝𝑠</m:t>
                      </m:r>
                    </m:oMath>
                  </m:oMathPara>
                </a14:m>
                <a:endParaRPr lang="en-US" sz="1400" dirty="0"/>
              </a:p>
            </p:txBody>
          </p:sp>
        </mc:Choice>
        <mc:Fallback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68DF0B13-A518-BEFF-CE6D-5EF6A76717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33925" y="4317715"/>
                <a:ext cx="1381340" cy="931345"/>
              </a:xfrm>
              <a:prstGeom prst="rect">
                <a:avLst/>
              </a:prstGeom>
              <a:blipFill>
                <a:blip r:embed="rId7"/>
                <a:stretch>
                  <a:fillRect b="-26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E0E98BBD-5923-AD99-68B4-92146FAF04B3}"/>
                  </a:ext>
                </a:extLst>
              </p:cNvPr>
              <p:cNvSpPr txBox="1"/>
              <p:nvPr/>
            </p:nvSpPr>
            <p:spPr>
              <a:xfrm>
                <a:off x="3809026" y="2831577"/>
                <a:ext cx="133205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sz="1200" dirty="0">
                    <a:latin typeface="+mj-lt"/>
                  </a:rPr>
                  <a:t>E = 29,000 </a:t>
                </a:r>
                <a:r>
                  <a:rPr lang="en-US" sz="1200" dirty="0" err="1">
                    <a:latin typeface="+mj-lt"/>
                  </a:rPr>
                  <a:t>ksi</a:t>
                </a:r>
                <a:endParaRPr lang="en-US" sz="1200" dirty="0">
                  <a:latin typeface="+mj-lt"/>
                </a:endParaRPr>
              </a:p>
              <a:p>
                <a:pPr algn="r"/>
                <a:r>
                  <a:rPr lang="en-US" sz="1200" dirty="0">
                    <a:latin typeface="+mj-lt"/>
                  </a:rPr>
                  <a:t>I = 100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200" b="0" i="0" smtClean="0">
                        <a:latin typeface="Cambria Math" panose="02040503050406030204" pitchFamily="18" charset="0"/>
                      </a:rPr>
                      <m:t>i</m:t>
                    </m:r>
                    <m:sSup>
                      <m:sSupPr>
                        <m:ctrlPr>
                          <a:rPr lang="en-US" sz="1200" b="0" smtClean="0">
                            <a:latin typeface="+mj-lt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1200" b="0" i="0" smtClean="0">
                            <a:latin typeface="Cambria Math" panose="02040503050406030204" pitchFamily="18" charset="0"/>
                          </a:rPr>
                          <m:t>n</m:t>
                        </m:r>
                      </m:e>
                      <m:sup>
                        <m:r>
                          <a:rPr lang="en-US" sz="1200" b="0" i="0" smtClean="0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endParaRPr lang="en-US" sz="1200" dirty="0">
                  <a:latin typeface="+mj-lt"/>
                </a:endParaRP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E0E98BBD-5923-AD99-68B4-92146FAF04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09026" y="2831577"/>
                <a:ext cx="1332056" cy="461665"/>
              </a:xfrm>
              <a:prstGeom prst="rect">
                <a:avLst/>
              </a:prstGeom>
              <a:blipFill>
                <a:blip r:embed="rId8"/>
                <a:stretch>
                  <a:fillRect b="-92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1108676-0653-7D38-3916-9D378BBFE14D}"/>
                  </a:ext>
                </a:extLst>
              </p:cNvPr>
              <p:cNvSpPr txBox="1"/>
              <p:nvPr/>
            </p:nvSpPr>
            <p:spPr>
              <a:xfrm>
                <a:off x="9651706" y="2900839"/>
                <a:ext cx="133205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sz="1200" dirty="0">
                    <a:latin typeface="+mj-lt"/>
                  </a:rPr>
                  <a:t>E = 29,000 </a:t>
                </a:r>
                <a:r>
                  <a:rPr lang="en-US" sz="1200" dirty="0" err="1">
                    <a:latin typeface="+mj-lt"/>
                  </a:rPr>
                  <a:t>ksi</a:t>
                </a:r>
                <a:endParaRPr lang="en-US" sz="1200" dirty="0">
                  <a:latin typeface="+mj-lt"/>
                </a:endParaRPr>
              </a:p>
              <a:p>
                <a:pPr algn="r"/>
                <a:r>
                  <a:rPr lang="en-US" sz="1200" dirty="0">
                    <a:latin typeface="+mj-lt"/>
                  </a:rPr>
                  <a:t>I = 100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200" b="0" i="0" smtClean="0">
                        <a:latin typeface="Cambria Math" panose="02040503050406030204" pitchFamily="18" charset="0"/>
                      </a:rPr>
                      <m:t>i</m:t>
                    </m:r>
                    <m:sSup>
                      <m:sSupPr>
                        <m:ctrlPr>
                          <a:rPr lang="en-US" sz="1200" b="0" smtClean="0">
                            <a:latin typeface="+mj-lt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1200" b="0" i="0" smtClean="0">
                            <a:latin typeface="Cambria Math" panose="02040503050406030204" pitchFamily="18" charset="0"/>
                          </a:rPr>
                          <m:t>n</m:t>
                        </m:r>
                      </m:e>
                      <m:sup>
                        <m:r>
                          <a:rPr lang="en-US" sz="1200" b="0" i="0" smtClean="0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endParaRPr lang="en-US" sz="1200" dirty="0">
                  <a:latin typeface="+mj-lt"/>
                </a:endParaRP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1108676-0653-7D38-3916-9D378BBFE1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51706" y="2900839"/>
                <a:ext cx="1332056" cy="461665"/>
              </a:xfrm>
              <a:prstGeom prst="rect">
                <a:avLst/>
              </a:prstGeom>
              <a:blipFill>
                <a:blip r:embed="rId9"/>
                <a:stretch>
                  <a:fillRect t="-1316" b="-92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557867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D1E7E0-B8AA-30E0-9452-E9D317D14C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2793A7-6F8A-798D-4F96-84F964CD5B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Simple Beam 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864F45-3F08-A37F-BBFB-3B98B2D8BA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dirty="0"/>
              <a:t>The direct problem has known input parameters and a governing equation to compute the results. </a:t>
            </a:r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/>
              <a:t>The inverse problem has an observed output and some input parameters— the governing equation must be back-solved to find the missing input parameter.</a:t>
            </a:r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/>
              <a:t>Recall, Hadamard’s conditions:</a:t>
            </a:r>
          </a:p>
          <a:p>
            <a:pPr marL="342900" indent="-342900">
              <a:buAutoNum type="arabicPeriod"/>
            </a:pPr>
            <a:r>
              <a:rPr lang="en-US" sz="1600" dirty="0"/>
              <a:t>Existence – a solution exists </a:t>
            </a:r>
            <a:r>
              <a:rPr lang="en-US" sz="1600" dirty="0">
                <a:solidFill>
                  <a:schemeClr val="accent6"/>
                </a:solidFill>
              </a:rPr>
              <a:t>✓</a:t>
            </a:r>
          </a:p>
          <a:p>
            <a:pPr marL="342900" indent="-342900">
              <a:buAutoNum type="arabicPeriod"/>
            </a:pPr>
            <a:r>
              <a:rPr lang="en-US" sz="1600" dirty="0"/>
              <a:t>Uniqueness – only one solution per problem </a:t>
            </a:r>
            <a:r>
              <a:rPr lang="en-US" sz="1600" dirty="0">
                <a:solidFill>
                  <a:schemeClr val="accent6"/>
                </a:solidFill>
              </a:rPr>
              <a:t>✓</a:t>
            </a:r>
          </a:p>
          <a:p>
            <a:pPr marL="342900" indent="-342900">
              <a:buAutoNum type="arabicPeriod"/>
            </a:pPr>
            <a:r>
              <a:rPr lang="en-US" sz="1600" dirty="0"/>
              <a:t>Stability – the inputs depends on the outputs, vice versa </a:t>
            </a:r>
            <a:r>
              <a:rPr lang="en-US" sz="1600" dirty="0">
                <a:solidFill>
                  <a:schemeClr val="accent6"/>
                </a:solidFill>
              </a:rPr>
              <a:t>✓</a:t>
            </a:r>
          </a:p>
          <a:p>
            <a:pPr marL="342900" indent="-342900">
              <a:buAutoNum type="arabicPeriod"/>
            </a:pPr>
            <a:endParaRPr lang="en-US" sz="1600" dirty="0">
              <a:solidFill>
                <a:schemeClr val="accent6"/>
              </a:solidFill>
            </a:endParaRPr>
          </a:p>
          <a:p>
            <a:pPr marL="0" indent="0">
              <a:buNone/>
            </a:pPr>
            <a:r>
              <a:rPr lang="en-US" sz="1600" dirty="0"/>
              <a:t>Therefore, this is a well-posed direct </a:t>
            </a:r>
            <a:r>
              <a:rPr lang="en-US" sz="1600" u="sng" dirty="0"/>
              <a:t>and</a:t>
            </a:r>
            <a:r>
              <a:rPr lang="en-US" sz="1600" dirty="0"/>
              <a:t> inverse problem.</a:t>
            </a:r>
          </a:p>
          <a:p>
            <a:pPr marL="0" indent="0">
              <a:buNone/>
            </a:pPr>
            <a:endParaRPr lang="en-US" sz="1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2DED1B-281C-93F4-963B-E8B138A4AF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5F4311-C1C1-468E-90BA-469E1A493750}" type="slidenum">
              <a:rPr lang="en-US" smtClean="0"/>
              <a:t>8</a:t>
            </a:fld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20CB4E61-06EA-0719-076A-7328358A227E}"/>
              </a:ext>
            </a:extLst>
          </p:cNvPr>
          <p:cNvGrpSpPr/>
          <p:nvPr/>
        </p:nvGrpSpPr>
        <p:grpSpPr>
          <a:xfrm>
            <a:off x="7115556" y="2783891"/>
            <a:ext cx="4238244" cy="2496312"/>
            <a:chOff x="1251331" y="1945303"/>
            <a:chExt cx="3272155" cy="1975562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A46970CD-574B-A52A-65DD-A20C8EE8493C}"/>
                </a:ext>
              </a:extLst>
            </p:cNvPr>
            <p:cNvCxnSpPr>
              <a:cxnSpLocks/>
            </p:cNvCxnSpPr>
            <p:nvPr/>
          </p:nvCxnSpPr>
          <p:spPr>
            <a:xfrm>
              <a:off x="1251331" y="3148491"/>
              <a:ext cx="3272155" cy="0"/>
            </a:xfrm>
            <a:prstGeom prst="line">
              <a:avLst/>
            </a:prstGeom>
            <a:ln w="571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04CA41A5-A6CB-9586-B9C9-4B9441D21820}"/>
                </a:ext>
              </a:extLst>
            </p:cNvPr>
            <p:cNvSpPr/>
            <p:nvPr/>
          </p:nvSpPr>
          <p:spPr>
            <a:xfrm>
              <a:off x="4189805" y="3148491"/>
              <a:ext cx="268785" cy="287394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Isosceles Triangle 8">
              <a:extLst>
                <a:ext uri="{FF2B5EF4-FFF2-40B4-BE49-F238E27FC236}">
                  <a16:creationId xmlns:a16="http://schemas.microsoft.com/office/drawing/2014/main" id="{F3FD6BB4-194D-40D2-04D6-EAC7DA15FFED}"/>
                </a:ext>
              </a:extLst>
            </p:cNvPr>
            <p:cNvSpPr/>
            <p:nvPr/>
          </p:nvSpPr>
          <p:spPr>
            <a:xfrm>
              <a:off x="1277620" y="3148491"/>
              <a:ext cx="246888" cy="261741"/>
            </a:xfrm>
            <a:prstGeom prst="triangle">
              <a:avLst/>
            </a:prstGeom>
            <a:solidFill>
              <a:schemeClr val="dk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368CD24F-782A-E737-FCF5-5AEB6DBB49FE}"/>
                </a:ext>
              </a:extLst>
            </p:cNvPr>
            <p:cNvCxnSpPr/>
            <p:nvPr/>
          </p:nvCxnSpPr>
          <p:spPr>
            <a:xfrm>
              <a:off x="2797315" y="2188372"/>
              <a:ext cx="0" cy="96012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459B1C93-B123-F244-F98A-51D4686C4B06}"/>
                </a:ext>
              </a:extLst>
            </p:cNvPr>
            <p:cNvCxnSpPr>
              <a:cxnSpLocks/>
            </p:cNvCxnSpPr>
            <p:nvPr/>
          </p:nvCxnSpPr>
          <p:spPr>
            <a:xfrm>
              <a:off x="1392891" y="3664365"/>
              <a:ext cx="2907792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441D9579-37D5-FD3A-0D44-06BB5F1193C6}"/>
                </a:ext>
              </a:extLst>
            </p:cNvPr>
            <p:cNvSpPr txBox="1"/>
            <p:nvPr/>
          </p:nvSpPr>
          <p:spPr>
            <a:xfrm>
              <a:off x="2692874" y="3684664"/>
              <a:ext cx="216071" cy="23620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+mj-lt"/>
                </a:rPr>
                <a:t>L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645FD98F-6B25-F59F-FCE8-F8743701F94B}"/>
                </a:ext>
              </a:extLst>
            </p:cNvPr>
            <p:cNvSpPr txBox="1"/>
            <p:nvPr/>
          </p:nvSpPr>
          <p:spPr>
            <a:xfrm>
              <a:off x="2693000" y="1945303"/>
              <a:ext cx="208629" cy="23620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+mj-lt"/>
                </a:rPr>
                <a:t>P</a:t>
              </a:r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49238A81-58D0-40F0-5645-AB25CD644399}"/>
                </a:ext>
              </a:extLst>
            </p:cNvPr>
            <p:cNvSpPr/>
            <p:nvPr/>
          </p:nvSpPr>
          <p:spPr>
            <a:xfrm>
              <a:off x="1435608" y="3168789"/>
              <a:ext cx="2812415" cy="397404"/>
            </a:xfrm>
            <a:custGeom>
              <a:avLst/>
              <a:gdLst>
                <a:gd name="csX0" fmla="*/ 0 w 2889504"/>
                <a:gd name="csY0" fmla="*/ 18288 h 420657"/>
                <a:gd name="csX1" fmla="*/ 1399032 w 2889504"/>
                <a:gd name="csY1" fmla="*/ 420624 h 420657"/>
                <a:gd name="csX2" fmla="*/ 2889504 w 2889504"/>
                <a:gd name="csY2" fmla="*/ 0 h 42065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889504" h="420657">
                  <a:moveTo>
                    <a:pt x="0" y="18288"/>
                  </a:moveTo>
                  <a:cubicBezTo>
                    <a:pt x="458724" y="220980"/>
                    <a:pt x="917448" y="423672"/>
                    <a:pt x="1399032" y="420624"/>
                  </a:cubicBezTo>
                  <a:cubicBezTo>
                    <a:pt x="1880616" y="417576"/>
                    <a:pt x="2631948" y="92964"/>
                    <a:pt x="2889504" y="0"/>
                  </a:cubicBezTo>
                </a:path>
              </a:pathLst>
            </a:custGeom>
            <a:ln w="28575">
              <a:solidFill>
                <a:schemeClr val="tx1"/>
              </a:solidFill>
              <a:prstDash val="sysDash"/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EA48CD03-CF4E-A788-8557-B5EDC5B50377}"/>
                    </a:ext>
                  </a:extLst>
                </p:cNvPr>
                <p:cNvSpPr txBox="1"/>
                <p:nvPr/>
              </p:nvSpPr>
              <p:spPr>
                <a:xfrm>
                  <a:off x="2773259" y="3220756"/>
                  <a:ext cx="414776" cy="23620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𝛿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12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max</m:t>
                            </m:r>
                          </m:sub>
                        </m:sSub>
                      </m:oMath>
                    </m:oMathPara>
                  </a14:m>
                  <a:endParaRPr lang="en-US" sz="1200" dirty="0">
                    <a:solidFill>
                      <a:schemeClr val="tx1"/>
                    </a:solidFill>
                    <a:latin typeface="+mj-lt"/>
                  </a:endParaRPr>
                </a:p>
              </p:txBody>
            </p:sp>
          </mc:Choice>
          <mc:Fallback xmlns="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EA48CD03-CF4E-A788-8557-B5EDC5B5037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73259" y="3220756"/>
                  <a:ext cx="414776" cy="236201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3AEC41B6-FDE2-94B6-8284-3986D0542D42}"/>
                </a:ext>
              </a:extLst>
            </p:cNvPr>
            <p:cNvCxnSpPr/>
            <p:nvPr/>
          </p:nvCxnSpPr>
          <p:spPr>
            <a:xfrm>
              <a:off x="1393653" y="3560626"/>
              <a:ext cx="0" cy="207478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BC4FE408-A6A7-11FF-02B4-8F0B1152E5F8}"/>
                </a:ext>
              </a:extLst>
            </p:cNvPr>
            <p:cNvCxnSpPr/>
            <p:nvPr/>
          </p:nvCxnSpPr>
          <p:spPr>
            <a:xfrm>
              <a:off x="4300683" y="3560626"/>
              <a:ext cx="0" cy="207478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EA14D21C-0C43-493C-6138-F0F38F2468BF}"/>
                </a:ext>
              </a:extLst>
            </p:cNvPr>
            <p:cNvCxnSpPr>
              <a:cxnSpLocks/>
              <a:endCxn id="14" idx="1"/>
            </p:cNvCxnSpPr>
            <p:nvPr/>
          </p:nvCxnSpPr>
          <p:spPr>
            <a:xfrm>
              <a:off x="2797315" y="3168789"/>
              <a:ext cx="0" cy="397373"/>
            </a:xfrm>
            <a:prstGeom prst="line">
              <a:avLst/>
            </a:prstGeom>
            <a:ln w="9525">
              <a:solidFill>
                <a:schemeClr val="tx1"/>
              </a:solidFill>
              <a:prstDash val="dash"/>
            </a:ln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0520591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CBF3F3-4395-CEEC-ABF4-F5E7416A03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9EA7D1-58C7-0A15-0C9F-7F252B3967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Example: Simple Beam with Two Materials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1A7230-4C77-DCEF-EF5D-0D29C801BD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5F4311-C1C1-468E-90BA-469E1A493750}" type="slidenum">
              <a:rPr lang="en-US" smtClean="0"/>
              <a:t>9</a:t>
            </a:fld>
            <a:endParaRPr lang="en-US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83AAE03C-392A-6622-B917-D78226FD79DC}"/>
              </a:ext>
            </a:extLst>
          </p:cNvPr>
          <p:cNvGrpSpPr/>
          <p:nvPr/>
        </p:nvGrpSpPr>
        <p:grpSpPr>
          <a:xfrm>
            <a:off x="3785775" y="3875666"/>
            <a:ext cx="4144962" cy="2316797"/>
            <a:chOff x="3877215" y="3290450"/>
            <a:chExt cx="4144962" cy="2316797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4352AE2F-73E3-3B21-1584-A2276E5654E6}"/>
                </a:ext>
              </a:extLst>
            </p:cNvPr>
            <p:cNvGrpSpPr/>
            <p:nvPr/>
          </p:nvGrpSpPr>
          <p:grpSpPr>
            <a:xfrm>
              <a:off x="3877215" y="3290450"/>
              <a:ext cx="4144962" cy="2316797"/>
              <a:chOff x="1251331" y="1945303"/>
              <a:chExt cx="3207259" cy="1975562"/>
            </a:xfrm>
          </p:grpSpPr>
          <p:cxnSp>
            <p:nvCxnSpPr>
              <p:cNvPr id="6" name="Straight Connector 5">
                <a:extLst>
                  <a:ext uri="{FF2B5EF4-FFF2-40B4-BE49-F238E27FC236}">
                    <a16:creationId xmlns:a16="http://schemas.microsoft.com/office/drawing/2014/main" id="{AE70D61D-3BA9-6B0D-4F03-E85D98AF3C8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251331" y="3148491"/>
                <a:ext cx="1545984" cy="0"/>
              </a:xfrm>
              <a:prstGeom prst="line">
                <a:avLst/>
              </a:prstGeom>
              <a:ln w="57150">
                <a:solidFill>
                  <a:schemeClr val="tx2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0DB6F6EF-3AD9-68E3-B5CC-5F99CFBA561F}"/>
                  </a:ext>
                </a:extLst>
              </p:cNvPr>
              <p:cNvSpPr/>
              <p:nvPr/>
            </p:nvSpPr>
            <p:spPr>
              <a:xfrm>
                <a:off x="4189805" y="3148491"/>
                <a:ext cx="268785" cy="287394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8" name="Isosceles Triangle 7">
                <a:extLst>
                  <a:ext uri="{FF2B5EF4-FFF2-40B4-BE49-F238E27FC236}">
                    <a16:creationId xmlns:a16="http://schemas.microsoft.com/office/drawing/2014/main" id="{C8830986-FA06-8B67-7806-1624C2C03004}"/>
                  </a:ext>
                </a:extLst>
              </p:cNvPr>
              <p:cNvSpPr/>
              <p:nvPr/>
            </p:nvSpPr>
            <p:spPr>
              <a:xfrm>
                <a:off x="1277620" y="3148491"/>
                <a:ext cx="246888" cy="261741"/>
              </a:xfrm>
              <a:prstGeom prst="triangle">
                <a:avLst/>
              </a:prstGeom>
              <a:solidFill>
                <a:schemeClr val="dk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9" name="Straight Arrow Connector 8">
                <a:extLst>
                  <a:ext uri="{FF2B5EF4-FFF2-40B4-BE49-F238E27FC236}">
                    <a16:creationId xmlns:a16="http://schemas.microsoft.com/office/drawing/2014/main" id="{D740EC8C-D99B-21A9-B378-89D858E71012}"/>
                  </a:ext>
                </a:extLst>
              </p:cNvPr>
              <p:cNvCxnSpPr/>
              <p:nvPr/>
            </p:nvCxnSpPr>
            <p:spPr>
              <a:xfrm>
                <a:off x="2797315" y="2181504"/>
                <a:ext cx="0" cy="960120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" name="Straight Connector 9">
                <a:extLst>
                  <a:ext uri="{FF2B5EF4-FFF2-40B4-BE49-F238E27FC236}">
                    <a16:creationId xmlns:a16="http://schemas.microsoft.com/office/drawing/2014/main" id="{F1D5C093-87B7-805D-3976-ADEB94F07E3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392891" y="3664365"/>
                <a:ext cx="2907792" cy="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F547F64-4C2E-B5DF-EB35-0110984F2409}"/>
                  </a:ext>
                </a:extLst>
              </p:cNvPr>
              <p:cNvSpPr txBox="1"/>
              <p:nvPr/>
            </p:nvSpPr>
            <p:spPr>
              <a:xfrm>
                <a:off x="2692874" y="3684664"/>
                <a:ext cx="216071" cy="23620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>
                    <a:latin typeface="+mj-lt"/>
                  </a:rPr>
                  <a:t>L</a:t>
                </a:r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13738A99-0D2A-978F-8E40-4ABD0A2E3B38}"/>
                  </a:ext>
                </a:extLst>
              </p:cNvPr>
              <p:cNvSpPr txBox="1"/>
              <p:nvPr/>
            </p:nvSpPr>
            <p:spPr>
              <a:xfrm>
                <a:off x="2693000" y="1945303"/>
                <a:ext cx="208629" cy="23620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>
                    <a:latin typeface="+mj-lt"/>
                  </a:rPr>
                  <a:t>P</a:t>
                </a:r>
              </a:p>
            </p:txBody>
          </p:sp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3A37CA55-F67F-7A8E-C13E-3A402695FC4C}"/>
                  </a:ext>
                </a:extLst>
              </p:cNvPr>
              <p:cNvSpPr/>
              <p:nvPr/>
            </p:nvSpPr>
            <p:spPr>
              <a:xfrm>
                <a:off x="1435608" y="3168789"/>
                <a:ext cx="2812415" cy="397404"/>
              </a:xfrm>
              <a:custGeom>
                <a:avLst/>
                <a:gdLst>
                  <a:gd name="csX0" fmla="*/ 0 w 2889504"/>
                  <a:gd name="csY0" fmla="*/ 18288 h 420657"/>
                  <a:gd name="csX1" fmla="*/ 1399032 w 2889504"/>
                  <a:gd name="csY1" fmla="*/ 420624 h 420657"/>
                  <a:gd name="csX2" fmla="*/ 2889504 w 2889504"/>
                  <a:gd name="csY2" fmla="*/ 0 h 42065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</a:cxnLst>
                <a:rect l="l" t="t" r="r" b="b"/>
                <a:pathLst>
                  <a:path w="2889504" h="420657">
                    <a:moveTo>
                      <a:pt x="0" y="18288"/>
                    </a:moveTo>
                    <a:cubicBezTo>
                      <a:pt x="458724" y="220980"/>
                      <a:pt x="917448" y="423672"/>
                      <a:pt x="1399032" y="420624"/>
                    </a:cubicBezTo>
                    <a:cubicBezTo>
                      <a:pt x="1880616" y="417576"/>
                      <a:pt x="2631948" y="92964"/>
                      <a:pt x="2889504" y="0"/>
                    </a:cubicBezTo>
                  </a:path>
                </a:pathLst>
              </a:custGeom>
              <a:ln w="28575">
                <a:solidFill>
                  <a:schemeClr val="tx1"/>
                </a:solidFill>
                <a:prstDash val="sysDash"/>
              </a:ln>
            </p:spPr>
            <p:style>
              <a:lnRef idx="1">
                <a:schemeClr val="accent4"/>
              </a:lnRef>
              <a:fillRef idx="0">
                <a:schemeClr val="accent4"/>
              </a:fillRef>
              <a:effectRef idx="0">
                <a:schemeClr val="accent4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4" name="TextBox 13">
                    <a:extLst>
                      <a:ext uri="{FF2B5EF4-FFF2-40B4-BE49-F238E27FC236}">
                        <a16:creationId xmlns:a16="http://schemas.microsoft.com/office/drawing/2014/main" id="{C79233F3-98B1-A932-85B8-AE73E8F32EFE}"/>
                      </a:ext>
                    </a:extLst>
                  </p:cNvPr>
                  <p:cNvSpPr txBox="1"/>
                  <p:nvPr/>
                </p:nvSpPr>
                <p:spPr>
                  <a:xfrm>
                    <a:off x="2773259" y="3220756"/>
                    <a:ext cx="414776" cy="236201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𝛿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12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sub>
                          </m:sSub>
                        </m:oMath>
                      </m:oMathPara>
                    </a14:m>
                    <a:endParaRPr lang="en-US" sz="1200" dirty="0">
                      <a:solidFill>
                        <a:schemeClr val="tx1"/>
                      </a:solidFill>
                      <a:latin typeface="+mj-lt"/>
                    </a:endParaRPr>
                  </a:p>
                </p:txBody>
              </p:sp>
            </mc:Choice>
            <mc:Fallback xmlns="">
              <p:sp>
                <p:nvSpPr>
                  <p:cNvPr id="14" name="TextBox 13">
                    <a:extLst>
                      <a:ext uri="{FF2B5EF4-FFF2-40B4-BE49-F238E27FC236}">
                        <a16:creationId xmlns:a16="http://schemas.microsoft.com/office/drawing/2014/main" id="{C79233F3-98B1-A932-85B8-AE73E8F32EF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773259" y="3220756"/>
                    <a:ext cx="414776" cy="236201"/>
                  </a:xfrm>
                  <a:prstGeom prst="rect">
                    <a:avLst/>
                  </a:prstGeom>
                  <a:blipFill>
                    <a:blip r:embed="rId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391AD9D6-CC2A-0E2F-448A-18E8127653F6}"/>
                  </a:ext>
                </a:extLst>
              </p:cNvPr>
              <p:cNvCxnSpPr/>
              <p:nvPr/>
            </p:nvCxnSpPr>
            <p:spPr>
              <a:xfrm>
                <a:off x="1393653" y="3560626"/>
                <a:ext cx="0" cy="207478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6" name="Straight Connector 15">
                <a:extLst>
                  <a:ext uri="{FF2B5EF4-FFF2-40B4-BE49-F238E27FC236}">
                    <a16:creationId xmlns:a16="http://schemas.microsoft.com/office/drawing/2014/main" id="{5D34F5F5-FE59-1F76-2507-A20617E1E4AB}"/>
                  </a:ext>
                </a:extLst>
              </p:cNvPr>
              <p:cNvCxnSpPr/>
              <p:nvPr/>
            </p:nvCxnSpPr>
            <p:spPr>
              <a:xfrm>
                <a:off x="4300683" y="3560626"/>
                <a:ext cx="0" cy="207478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A17185B8-618D-50E9-9F67-C3F81D35F952}"/>
                  </a:ext>
                </a:extLst>
              </p:cNvPr>
              <p:cNvCxnSpPr>
                <a:cxnSpLocks/>
                <a:endCxn id="13" idx="1"/>
              </p:cNvCxnSpPr>
              <p:nvPr/>
            </p:nvCxnSpPr>
            <p:spPr>
              <a:xfrm>
                <a:off x="2797315" y="3168789"/>
                <a:ext cx="0" cy="397373"/>
              </a:xfrm>
              <a:prstGeom prst="line">
                <a:avLst/>
              </a:prstGeom>
              <a:ln w="9525">
                <a:solidFill>
                  <a:schemeClr val="tx1"/>
                </a:solidFill>
                <a:prstDash val="dash"/>
              </a:ln>
            </p:spPr>
            <p:style>
              <a:lnRef idx="2">
                <a:schemeClr val="accent4"/>
              </a:lnRef>
              <a:fillRef idx="0">
                <a:schemeClr val="accent4"/>
              </a:fillRef>
              <a:effectRef idx="1">
                <a:schemeClr val="accent4"/>
              </a:effectRef>
              <a:fontRef idx="minor">
                <a:schemeClr val="tx1"/>
              </a:fontRef>
            </p:style>
          </p:cxnSp>
        </p:grp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FEC3865A-B98A-6E65-48C9-7DCAD8440588}"/>
                </a:ext>
              </a:extLst>
            </p:cNvPr>
            <p:cNvCxnSpPr>
              <a:cxnSpLocks/>
            </p:cNvCxnSpPr>
            <p:nvPr/>
          </p:nvCxnSpPr>
          <p:spPr>
            <a:xfrm>
              <a:off x="5875197" y="4701462"/>
              <a:ext cx="1997982" cy="0"/>
            </a:xfrm>
            <a:prstGeom prst="line">
              <a:avLst/>
            </a:prstGeom>
            <a:ln w="57150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14237397-947B-5E6A-FB57-61E3A554A58A}"/>
                    </a:ext>
                  </a:extLst>
                </p:cNvPr>
                <p:cNvSpPr txBox="1"/>
                <p:nvPr/>
              </p:nvSpPr>
              <p:spPr>
                <a:xfrm>
                  <a:off x="4662637" y="4403197"/>
                  <a:ext cx="683515" cy="27699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1200" b="0" i="1" smtClean="0">
                              <a:solidFill>
                                <a:schemeClr val="tx2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solidFill>
                                <a:schemeClr val="tx2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sz="1200" b="0" i="1" smtClean="0">
                              <a:solidFill>
                                <a:schemeClr val="tx2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a14:m>
                  <a:r>
                    <a:rPr lang="en-US" sz="1200" dirty="0">
                      <a:solidFill>
                        <a:schemeClr val="tx2">
                          <a:lumMod val="50000"/>
                          <a:lumOff val="50000"/>
                        </a:schemeClr>
                      </a:solidFill>
                      <a:latin typeface="+mj-lt"/>
                    </a:rPr>
                    <a:t>= ?</a:t>
                  </a:r>
                </a:p>
              </p:txBody>
            </p:sp>
          </mc:Choice>
          <mc:Fallback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14237397-947B-5E6A-FB57-61E3A554A58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62637" y="4403197"/>
                  <a:ext cx="683515" cy="276999"/>
                </a:xfrm>
                <a:prstGeom prst="rect">
                  <a:avLst/>
                </a:prstGeom>
                <a:blipFill>
                  <a:blip r:embed="rId3"/>
                  <a:stretch>
                    <a:fillRect b="-1521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4F8DB95B-DBD9-6A10-50C5-536EF41F5EAA}"/>
                    </a:ext>
                  </a:extLst>
                </p:cNvPr>
                <p:cNvSpPr txBox="1"/>
                <p:nvPr/>
              </p:nvSpPr>
              <p:spPr>
                <a:xfrm>
                  <a:off x="6572198" y="4420437"/>
                  <a:ext cx="683515" cy="27699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1200" b="0" i="1" smtClean="0">
                              <a:solidFill>
                                <a:schemeClr val="accent1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solidFill>
                                <a:schemeClr val="accent1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sz="1200" b="0" i="1" smtClean="0">
                              <a:solidFill>
                                <a:schemeClr val="accent1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a14:m>
                  <a:r>
                    <a:rPr lang="en-US" sz="1200" dirty="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latin typeface="+mj-lt"/>
                    </a:rPr>
                    <a:t>= ?</a:t>
                  </a:r>
                </a:p>
              </p:txBody>
            </p:sp>
          </mc:Choice>
          <mc:Fallback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4F8DB95B-DBD9-6A10-50C5-536EF41F5EA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72198" y="4420437"/>
                  <a:ext cx="683515" cy="276999"/>
                </a:xfrm>
                <a:prstGeom prst="rect">
                  <a:avLst/>
                </a:prstGeom>
                <a:blipFill>
                  <a:blip r:embed="rId4"/>
                  <a:stretch>
                    <a:fillRect b="-1521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127A57E7-0492-FBA9-6A95-D8E1FC852BE6}"/>
              </a:ext>
            </a:extLst>
          </p:cNvPr>
          <p:cNvSpPr txBox="1"/>
          <p:nvPr/>
        </p:nvSpPr>
        <p:spPr>
          <a:xfrm>
            <a:off x="838200" y="1551557"/>
            <a:ext cx="9384792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+mj-lt"/>
              </a:rPr>
              <a:t>Recall, Hadamard’s conditions:</a:t>
            </a:r>
          </a:p>
          <a:p>
            <a:pPr marL="342900" indent="-342900">
              <a:buAutoNum type="arabicPeriod"/>
            </a:pPr>
            <a:r>
              <a:rPr lang="en-US" dirty="0">
                <a:latin typeface="+mj-lt"/>
              </a:rPr>
              <a:t>Existence – a solution exists </a:t>
            </a:r>
            <a:r>
              <a:rPr lang="en-US" dirty="0">
                <a:solidFill>
                  <a:schemeClr val="accent6"/>
                </a:solidFill>
                <a:latin typeface="+mj-lt"/>
              </a:rPr>
              <a:t>✓</a:t>
            </a:r>
          </a:p>
          <a:p>
            <a:pPr marL="342900" indent="-342900">
              <a:buAutoNum type="arabicPeriod"/>
            </a:pPr>
            <a:r>
              <a:rPr lang="en-US" dirty="0">
                <a:latin typeface="+mj-lt"/>
              </a:rPr>
              <a:t>Uniqueness – only one solution per problem </a:t>
            </a:r>
            <a:r>
              <a:rPr lang="en-US" dirty="0">
                <a:solidFill>
                  <a:srgbClr val="FF0000"/>
                </a:solidFill>
              </a:rPr>
              <a:t>✗</a:t>
            </a:r>
            <a:endParaRPr lang="en-US" dirty="0">
              <a:solidFill>
                <a:srgbClr val="FF0000"/>
              </a:solidFill>
              <a:latin typeface="+mj-lt"/>
            </a:endParaRPr>
          </a:p>
          <a:p>
            <a:pPr marL="342900" indent="-342900">
              <a:buAutoNum type="arabicPeriod"/>
            </a:pPr>
            <a:r>
              <a:rPr lang="en-US" dirty="0">
                <a:latin typeface="+mj-lt"/>
              </a:rPr>
              <a:t>Stability – the inputs depends on the outputs, vice versa </a:t>
            </a:r>
            <a:r>
              <a:rPr lang="en-US" dirty="0">
                <a:solidFill>
                  <a:schemeClr val="accent6"/>
                </a:solidFill>
              </a:rPr>
              <a:t>✓</a:t>
            </a:r>
          </a:p>
          <a:p>
            <a:pPr marL="342900" indent="-342900">
              <a:buAutoNum type="arabicPeriod"/>
            </a:pPr>
            <a:endParaRPr lang="en-US" dirty="0">
              <a:solidFill>
                <a:schemeClr val="accent6"/>
              </a:solidFill>
              <a:latin typeface="+mj-lt"/>
            </a:endParaRPr>
          </a:p>
          <a:p>
            <a:r>
              <a:rPr lang="en-US" dirty="0">
                <a:latin typeface="+mj-lt"/>
              </a:rPr>
              <a:t>This is an ill-posed problem. This is also an inverse problem as you are finding an input (E) based on an output and given inputs.</a:t>
            </a:r>
          </a:p>
        </p:txBody>
      </p:sp>
    </p:spTree>
    <p:extLst>
      <p:ext uri="{BB962C8B-B14F-4D97-AF65-F5344CB8AC3E}">
        <p14:creationId xmlns:p14="http://schemas.microsoft.com/office/powerpoint/2010/main" val="1622672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F4CD63-22AE-CBF9-426B-D22D842594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E350BD-F88C-9CCD-EE59-1D70E16C80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Example: Simple Beam with Two Materials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AB7B61-F166-C079-5ED5-F26DF29E43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5F4311-C1C1-468E-90BA-469E1A493750}" type="slidenum">
              <a:rPr lang="en-US" smtClean="0"/>
              <a:t>10</a:t>
            </a:fld>
            <a:endParaRPr lang="en-US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3098800A-56A2-5657-90C8-BE01D2A72157}"/>
              </a:ext>
            </a:extLst>
          </p:cNvPr>
          <p:cNvGrpSpPr/>
          <p:nvPr/>
        </p:nvGrpSpPr>
        <p:grpSpPr>
          <a:xfrm>
            <a:off x="3694335" y="4200744"/>
            <a:ext cx="4144962" cy="2316797"/>
            <a:chOff x="3877215" y="3290450"/>
            <a:chExt cx="4144962" cy="2316797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3FCE64A7-00DF-E5A4-F268-2340587A943A}"/>
                </a:ext>
              </a:extLst>
            </p:cNvPr>
            <p:cNvGrpSpPr/>
            <p:nvPr/>
          </p:nvGrpSpPr>
          <p:grpSpPr>
            <a:xfrm>
              <a:off x="3877215" y="3290450"/>
              <a:ext cx="4144962" cy="2316797"/>
              <a:chOff x="1251331" y="1945303"/>
              <a:chExt cx="3207259" cy="1975562"/>
            </a:xfrm>
          </p:grpSpPr>
          <p:cxnSp>
            <p:nvCxnSpPr>
              <p:cNvPr id="6" name="Straight Connector 5">
                <a:extLst>
                  <a:ext uri="{FF2B5EF4-FFF2-40B4-BE49-F238E27FC236}">
                    <a16:creationId xmlns:a16="http://schemas.microsoft.com/office/drawing/2014/main" id="{13DE36FA-2541-2592-6911-A870E7C6F09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251331" y="3148491"/>
                <a:ext cx="1545984" cy="0"/>
              </a:xfrm>
              <a:prstGeom prst="line">
                <a:avLst/>
              </a:prstGeom>
              <a:ln w="57150">
                <a:solidFill>
                  <a:schemeClr val="tx2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BDFC38AE-DE45-07C8-5EBD-D7BDF5D1623C}"/>
                  </a:ext>
                </a:extLst>
              </p:cNvPr>
              <p:cNvSpPr/>
              <p:nvPr/>
            </p:nvSpPr>
            <p:spPr>
              <a:xfrm>
                <a:off x="4189805" y="3148491"/>
                <a:ext cx="268785" cy="287394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8" name="Isosceles Triangle 7">
                <a:extLst>
                  <a:ext uri="{FF2B5EF4-FFF2-40B4-BE49-F238E27FC236}">
                    <a16:creationId xmlns:a16="http://schemas.microsoft.com/office/drawing/2014/main" id="{96B1EE0C-3FBA-A9F4-5FAD-94D0C3372457}"/>
                  </a:ext>
                </a:extLst>
              </p:cNvPr>
              <p:cNvSpPr/>
              <p:nvPr/>
            </p:nvSpPr>
            <p:spPr>
              <a:xfrm>
                <a:off x="1277620" y="3148491"/>
                <a:ext cx="246888" cy="261741"/>
              </a:xfrm>
              <a:prstGeom prst="triangle">
                <a:avLst/>
              </a:prstGeom>
              <a:solidFill>
                <a:schemeClr val="dk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9" name="Straight Arrow Connector 8">
                <a:extLst>
                  <a:ext uri="{FF2B5EF4-FFF2-40B4-BE49-F238E27FC236}">
                    <a16:creationId xmlns:a16="http://schemas.microsoft.com/office/drawing/2014/main" id="{1A81B945-8211-9B29-3ED1-BB9370478715}"/>
                  </a:ext>
                </a:extLst>
              </p:cNvPr>
              <p:cNvCxnSpPr/>
              <p:nvPr/>
            </p:nvCxnSpPr>
            <p:spPr>
              <a:xfrm>
                <a:off x="2797315" y="2181504"/>
                <a:ext cx="0" cy="960120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" name="Straight Connector 9">
                <a:extLst>
                  <a:ext uri="{FF2B5EF4-FFF2-40B4-BE49-F238E27FC236}">
                    <a16:creationId xmlns:a16="http://schemas.microsoft.com/office/drawing/2014/main" id="{09CC2944-B501-90F0-9AE2-CEFE55009AC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392891" y="3664365"/>
                <a:ext cx="2907792" cy="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824BDD6F-26A9-7072-B7C8-8EAB9CC3B49F}"/>
                  </a:ext>
                </a:extLst>
              </p:cNvPr>
              <p:cNvSpPr txBox="1"/>
              <p:nvPr/>
            </p:nvSpPr>
            <p:spPr>
              <a:xfrm>
                <a:off x="2692874" y="3684664"/>
                <a:ext cx="216071" cy="23620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>
                    <a:latin typeface="+mj-lt"/>
                  </a:rPr>
                  <a:t>L</a:t>
                </a:r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4543113-D0BE-8F8E-AE1B-1113D51CF382}"/>
                  </a:ext>
                </a:extLst>
              </p:cNvPr>
              <p:cNvSpPr txBox="1"/>
              <p:nvPr/>
            </p:nvSpPr>
            <p:spPr>
              <a:xfrm>
                <a:off x="2693000" y="1945303"/>
                <a:ext cx="208629" cy="23620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>
                    <a:latin typeface="+mj-lt"/>
                  </a:rPr>
                  <a:t>P</a:t>
                </a:r>
              </a:p>
            </p:txBody>
          </p:sp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B256FB4F-FA8E-E735-1942-8543A794931C}"/>
                  </a:ext>
                </a:extLst>
              </p:cNvPr>
              <p:cNvSpPr/>
              <p:nvPr/>
            </p:nvSpPr>
            <p:spPr>
              <a:xfrm>
                <a:off x="1435608" y="3168789"/>
                <a:ext cx="2812415" cy="397404"/>
              </a:xfrm>
              <a:custGeom>
                <a:avLst/>
                <a:gdLst>
                  <a:gd name="csX0" fmla="*/ 0 w 2889504"/>
                  <a:gd name="csY0" fmla="*/ 18288 h 420657"/>
                  <a:gd name="csX1" fmla="*/ 1399032 w 2889504"/>
                  <a:gd name="csY1" fmla="*/ 420624 h 420657"/>
                  <a:gd name="csX2" fmla="*/ 2889504 w 2889504"/>
                  <a:gd name="csY2" fmla="*/ 0 h 42065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</a:cxnLst>
                <a:rect l="l" t="t" r="r" b="b"/>
                <a:pathLst>
                  <a:path w="2889504" h="420657">
                    <a:moveTo>
                      <a:pt x="0" y="18288"/>
                    </a:moveTo>
                    <a:cubicBezTo>
                      <a:pt x="458724" y="220980"/>
                      <a:pt x="917448" y="423672"/>
                      <a:pt x="1399032" y="420624"/>
                    </a:cubicBezTo>
                    <a:cubicBezTo>
                      <a:pt x="1880616" y="417576"/>
                      <a:pt x="2631948" y="92964"/>
                      <a:pt x="2889504" y="0"/>
                    </a:cubicBezTo>
                  </a:path>
                </a:pathLst>
              </a:custGeom>
              <a:ln w="28575">
                <a:solidFill>
                  <a:schemeClr val="tx1"/>
                </a:solidFill>
                <a:prstDash val="sysDash"/>
              </a:ln>
            </p:spPr>
            <p:style>
              <a:lnRef idx="1">
                <a:schemeClr val="accent4"/>
              </a:lnRef>
              <a:fillRef idx="0">
                <a:schemeClr val="accent4"/>
              </a:fillRef>
              <a:effectRef idx="0">
                <a:schemeClr val="accent4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4" name="TextBox 13">
                    <a:extLst>
                      <a:ext uri="{FF2B5EF4-FFF2-40B4-BE49-F238E27FC236}">
                        <a16:creationId xmlns:a16="http://schemas.microsoft.com/office/drawing/2014/main" id="{3867B249-11A9-C4D3-EBBB-DB50835CF238}"/>
                      </a:ext>
                    </a:extLst>
                  </p:cNvPr>
                  <p:cNvSpPr txBox="1"/>
                  <p:nvPr/>
                </p:nvSpPr>
                <p:spPr>
                  <a:xfrm>
                    <a:off x="2773259" y="3220756"/>
                    <a:ext cx="414776" cy="236201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𝛿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12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sub>
                          </m:sSub>
                        </m:oMath>
                      </m:oMathPara>
                    </a14:m>
                    <a:endParaRPr lang="en-US" sz="1200" dirty="0">
                      <a:solidFill>
                        <a:schemeClr val="tx1"/>
                      </a:solidFill>
                      <a:latin typeface="+mj-lt"/>
                    </a:endParaRPr>
                  </a:p>
                </p:txBody>
              </p:sp>
            </mc:Choice>
            <mc:Fallback>
              <p:sp>
                <p:nvSpPr>
                  <p:cNvPr id="14" name="TextBox 13">
                    <a:extLst>
                      <a:ext uri="{FF2B5EF4-FFF2-40B4-BE49-F238E27FC236}">
                        <a16:creationId xmlns:a16="http://schemas.microsoft.com/office/drawing/2014/main" id="{3867B249-11A9-C4D3-EBBB-DB50835CF23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773259" y="3220756"/>
                    <a:ext cx="414776" cy="236201"/>
                  </a:xfrm>
                  <a:prstGeom prst="rect">
                    <a:avLst/>
                  </a:prstGeom>
                  <a:blipFill>
                    <a:blip r:embed="rId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C06CCA7B-6C93-DAE5-C1AC-540A9ECF20D4}"/>
                  </a:ext>
                </a:extLst>
              </p:cNvPr>
              <p:cNvCxnSpPr/>
              <p:nvPr/>
            </p:nvCxnSpPr>
            <p:spPr>
              <a:xfrm>
                <a:off x="1393653" y="3560626"/>
                <a:ext cx="0" cy="207478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6" name="Straight Connector 15">
                <a:extLst>
                  <a:ext uri="{FF2B5EF4-FFF2-40B4-BE49-F238E27FC236}">
                    <a16:creationId xmlns:a16="http://schemas.microsoft.com/office/drawing/2014/main" id="{33814BA3-1F6A-58A2-670F-F585764D239D}"/>
                  </a:ext>
                </a:extLst>
              </p:cNvPr>
              <p:cNvCxnSpPr/>
              <p:nvPr/>
            </p:nvCxnSpPr>
            <p:spPr>
              <a:xfrm>
                <a:off x="4300683" y="3560626"/>
                <a:ext cx="0" cy="207478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3604F5E1-8A62-1DFE-F8C0-67BA527C2EDB}"/>
                  </a:ext>
                </a:extLst>
              </p:cNvPr>
              <p:cNvCxnSpPr>
                <a:cxnSpLocks/>
                <a:endCxn id="13" idx="1"/>
              </p:cNvCxnSpPr>
              <p:nvPr/>
            </p:nvCxnSpPr>
            <p:spPr>
              <a:xfrm>
                <a:off x="2797315" y="3168789"/>
                <a:ext cx="0" cy="397373"/>
              </a:xfrm>
              <a:prstGeom prst="line">
                <a:avLst/>
              </a:prstGeom>
              <a:ln w="9525">
                <a:solidFill>
                  <a:schemeClr val="tx1"/>
                </a:solidFill>
                <a:prstDash val="dash"/>
              </a:ln>
            </p:spPr>
            <p:style>
              <a:lnRef idx="2">
                <a:schemeClr val="accent4"/>
              </a:lnRef>
              <a:fillRef idx="0">
                <a:schemeClr val="accent4"/>
              </a:fillRef>
              <a:effectRef idx="1">
                <a:schemeClr val="accent4"/>
              </a:effectRef>
              <a:fontRef idx="minor">
                <a:schemeClr val="tx1"/>
              </a:fontRef>
            </p:style>
          </p:cxnSp>
        </p:grp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A85FBD08-D44C-EE9B-4DCE-17ADCC934B32}"/>
                </a:ext>
              </a:extLst>
            </p:cNvPr>
            <p:cNvCxnSpPr>
              <a:cxnSpLocks/>
            </p:cNvCxnSpPr>
            <p:nvPr/>
          </p:nvCxnSpPr>
          <p:spPr>
            <a:xfrm>
              <a:off x="5875197" y="4701462"/>
              <a:ext cx="1997982" cy="0"/>
            </a:xfrm>
            <a:prstGeom prst="line">
              <a:avLst/>
            </a:prstGeom>
            <a:ln w="57150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4F608DC3-631A-BBB4-C2DF-2FE53AA1DEF6}"/>
                    </a:ext>
                  </a:extLst>
                </p:cNvPr>
                <p:cNvSpPr txBox="1"/>
                <p:nvPr/>
              </p:nvSpPr>
              <p:spPr>
                <a:xfrm>
                  <a:off x="4662637" y="4403197"/>
                  <a:ext cx="683515" cy="27699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1200" b="0" i="1" smtClean="0">
                              <a:solidFill>
                                <a:schemeClr val="tx2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solidFill>
                                <a:schemeClr val="tx2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sz="1200" b="0" i="1" smtClean="0">
                              <a:solidFill>
                                <a:schemeClr val="tx2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a14:m>
                  <a:r>
                    <a:rPr lang="en-US" sz="1200" dirty="0">
                      <a:solidFill>
                        <a:schemeClr val="tx2">
                          <a:lumMod val="50000"/>
                          <a:lumOff val="50000"/>
                        </a:schemeClr>
                      </a:solidFill>
                      <a:latin typeface="+mj-lt"/>
                    </a:rPr>
                    <a:t>= ?</a:t>
                  </a:r>
                </a:p>
              </p:txBody>
            </p:sp>
          </mc:Choice>
          <mc:Fallback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4F608DC3-631A-BBB4-C2DF-2FE53AA1DEF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62637" y="4403197"/>
                  <a:ext cx="683515" cy="276999"/>
                </a:xfrm>
                <a:prstGeom prst="rect">
                  <a:avLst/>
                </a:prstGeom>
                <a:blipFill>
                  <a:blip r:embed="rId3"/>
                  <a:stretch>
                    <a:fillRect t="-2222" b="-1777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67730791-017E-CE51-20A3-8F1223EC7A5D}"/>
                    </a:ext>
                  </a:extLst>
                </p:cNvPr>
                <p:cNvSpPr txBox="1"/>
                <p:nvPr/>
              </p:nvSpPr>
              <p:spPr>
                <a:xfrm>
                  <a:off x="6572198" y="4420437"/>
                  <a:ext cx="683515" cy="27699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1200" b="0" i="1" smtClean="0">
                              <a:solidFill>
                                <a:schemeClr val="accent1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solidFill>
                                <a:schemeClr val="accent1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sz="1200" b="0" i="1" smtClean="0">
                              <a:solidFill>
                                <a:schemeClr val="accent1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a14:m>
                  <a:r>
                    <a:rPr lang="en-US" sz="1200" dirty="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latin typeface="+mj-lt"/>
                    </a:rPr>
                    <a:t>= ?</a:t>
                  </a:r>
                </a:p>
              </p:txBody>
            </p:sp>
          </mc:Choice>
          <mc:Fallback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67730791-017E-CE51-20A3-8F1223EC7A5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72198" y="4420437"/>
                  <a:ext cx="683515" cy="276999"/>
                </a:xfrm>
                <a:prstGeom prst="rect">
                  <a:avLst/>
                </a:prstGeom>
                <a:blipFill>
                  <a:blip r:embed="rId4"/>
                  <a:stretch>
                    <a:fillRect b="-1521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8B68562B-0B39-F8C3-5528-62550534FC7D}"/>
                  </a:ext>
                </a:extLst>
              </p:cNvPr>
              <p:cNvSpPr txBox="1"/>
              <p:nvPr/>
            </p:nvSpPr>
            <p:spPr>
              <a:xfrm>
                <a:off x="838200" y="1551557"/>
                <a:ext cx="9320784" cy="264918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dirty="0">
                    <a:latin typeface="+mj-lt"/>
                  </a:rPr>
                  <a:t>Approaches to solve:</a:t>
                </a:r>
              </a:p>
              <a:p>
                <a:pPr marL="342900" indent="-342900">
                  <a:buAutoNum type="arabicPeriod"/>
                </a:pPr>
                <a:r>
                  <a:rPr lang="en-US" dirty="0">
                    <a:latin typeface="+mj-lt"/>
                  </a:rPr>
                  <a:t>Make assumptions to simplify the problem: </a:t>
                </a:r>
              </a:p>
              <a:p>
                <a:pPr marL="800100" lvl="1" indent="-342900">
                  <a:buFont typeface="+mj-lt"/>
                  <a:buAutoNum type="alphaUcPeriod"/>
                </a:pPr>
                <a:r>
                  <a:rPr lang="en-US" dirty="0">
                    <a:latin typeface="+mj-lt"/>
                  </a:rPr>
                  <a:t>Assume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b="0" i="0" dirty="0">
                    <a:latin typeface="+mj-lt"/>
                  </a:rPr>
                  <a:t>;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dirty="0">
                    <a:latin typeface="+mj-lt"/>
                  </a:rPr>
                  <a:t> 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𝑌</m:t>
                    </m:r>
                  </m:oMath>
                </a14:m>
                <a:endParaRPr lang="en-US" b="0" dirty="0">
                  <a:latin typeface="+mj-lt"/>
                  <a:ea typeface="Cambria Math" panose="02040503050406030204" pitchFamily="18" charset="0"/>
                </a:endParaRPr>
              </a:p>
              <a:p>
                <a:pPr marL="1314450" lvl="2" indent="-400050">
                  <a:buFont typeface="+mj-lt"/>
                  <a:buAutoNum type="romanLcPeriod"/>
                </a:pPr>
                <a:r>
                  <a:rPr lang="en-US" dirty="0">
                    <a:latin typeface="+mj-lt"/>
                  </a:rPr>
                  <a:t>The given information is not enough to validate these assumptions and significantly changes the problem</a:t>
                </a:r>
              </a:p>
              <a:p>
                <a:pPr marL="857250" lvl="1" indent="-400050">
                  <a:buFont typeface="+mj-lt"/>
                  <a:buAutoNum type="alphaUcPeriod"/>
                </a:pPr>
                <a:r>
                  <a:rPr lang="en-US" dirty="0">
                    <a:latin typeface="+mj-lt"/>
                  </a:rPr>
                  <a:t>Assume the beam piecewise continuous ;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𝐸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,→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&lt;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m:rPr>
                                <m:nor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𝐸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→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&gt;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m:rPr>
                                <m:nor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eqArr>
                      </m:e>
                    </m:d>
                  </m:oMath>
                </a14:m>
                <a:endParaRPr lang="en-US" dirty="0">
                  <a:latin typeface="+mj-lt"/>
                </a:endParaRPr>
              </a:p>
              <a:p>
                <a:pPr marL="1314450" lvl="2" indent="-400050">
                  <a:buFont typeface="+mj-lt"/>
                  <a:buAutoNum type="romanLcPeriod"/>
                </a:pPr>
                <a:r>
                  <a:rPr lang="en-US" dirty="0">
                    <a:latin typeface="+mj-lt"/>
                  </a:rPr>
                  <a:t>Although this is a better assumption, the system is underdetermined (more unknowns than knowns) and would require knowing another deflection</a:t>
                </a:r>
              </a:p>
            </p:txBody>
          </p:sp>
        </mc:Choice>
        <mc:Fallback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8B68562B-0B39-F8C3-5528-62550534FC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551557"/>
                <a:ext cx="9320784" cy="2649187"/>
              </a:xfrm>
              <a:prstGeom prst="rect">
                <a:avLst/>
              </a:prstGeom>
              <a:blipFill>
                <a:blip r:embed="rId5"/>
                <a:stretch>
                  <a:fillRect l="-589" t="-1382" r="-916" b="-29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590080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0C5AE7-17CE-2389-42A3-6E2D801256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73F930-95DE-AB49-2145-6D366CD074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Example: Simple Beam with Two Materials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24884B-D9C7-3382-FA11-A02627203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5F4311-C1C1-468E-90BA-469E1A493750}" type="slidenum">
              <a:rPr lang="en-US" smtClean="0"/>
              <a:t>11</a:t>
            </a:fld>
            <a:endParaRPr lang="en-US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35F065E7-D85F-7470-5942-07E3173823FA}"/>
              </a:ext>
            </a:extLst>
          </p:cNvPr>
          <p:cNvGrpSpPr/>
          <p:nvPr/>
        </p:nvGrpSpPr>
        <p:grpSpPr>
          <a:xfrm>
            <a:off x="3685191" y="3552118"/>
            <a:ext cx="4144962" cy="2316797"/>
            <a:chOff x="3877215" y="3290450"/>
            <a:chExt cx="4144962" cy="2316797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15ED5D21-63DD-0DFE-8FFC-0B54C54E0347}"/>
                </a:ext>
              </a:extLst>
            </p:cNvPr>
            <p:cNvGrpSpPr/>
            <p:nvPr/>
          </p:nvGrpSpPr>
          <p:grpSpPr>
            <a:xfrm>
              <a:off x="3877215" y="3290450"/>
              <a:ext cx="4144962" cy="2316797"/>
              <a:chOff x="1251331" y="1945303"/>
              <a:chExt cx="3207259" cy="1975562"/>
            </a:xfrm>
          </p:grpSpPr>
          <p:cxnSp>
            <p:nvCxnSpPr>
              <p:cNvPr id="6" name="Straight Connector 5">
                <a:extLst>
                  <a:ext uri="{FF2B5EF4-FFF2-40B4-BE49-F238E27FC236}">
                    <a16:creationId xmlns:a16="http://schemas.microsoft.com/office/drawing/2014/main" id="{A3BE33CB-34B1-5C1D-0581-8F041B3EE3A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251331" y="3148491"/>
                <a:ext cx="1545984" cy="0"/>
              </a:xfrm>
              <a:prstGeom prst="line">
                <a:avLst/>
              </a:prstGeom>
              <a:ln w="57150">
                <a:solidFill>
                  <a:schemeClr val="tx2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A3BF22CC-3031-2525-00D3-5261B1B20D58}"/>
                  </a:ext>
                </a:extLst>
              </p:cNvPr>
              <p:cNvSpPr/>
              <p:nvPr/>
            </p:nvSpPr>
            <p:spPr>
              <a:xfrm>
                <a:off x="4189805" y="3148491"/>
                <a:ext cx="268785" cy="287394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8" name="Isosceles Triangle 7">
                <a:extLst>
                  <a:ext uri="{FF2B5EF4-FFF2-40B4-BE49-F238E27FC236}">
                    <a16:creationId xmlns:a16="http://schemas.microsoft.com/office/drawing/2014/main" id="{73613C0D-0041-E2CE-4281-F8B5FF789776}"/>
                  </a:ext>
                </a:extLst>
              </p:cNvPr>
              <p:cNvSpPr/>
              <p:nvPr/>
            </p:nvSpPr>
            <p:spPr>
              <a:xfrm>
                <a:off x="1277620" y="3148491"/>
                <a:ext cx="246888" cy="261741"/>
              </a:xfrm>
              <a:prstGeom prst="triangle">
                <a:avLst/>
              </a:prstGeom>
              <a:solidFill>
                <a:schemeClr val="dk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9" name="Straight Arrow Connector 8">
                <a:extLst>
                  <a:ext uri="{FF2B5EF4-FFF2-40B4-BE49-F238E27FC236}">
                    <a16:creationId xmlns:a16="http://schemas.microsoft.com/office/drawing/2014/main" id="{1C3BFB48-48BA-3CFD-58F7-E4B403CE300E}"/>
                  </a:ext>
                </a:extLst>
              </p:cNvPr>
              <p:cNvCxnSpPr/>
              <p:nvPr/>
            </p:nvCxnSpPr>
            <p:spPr>
              <a:xfrm>
                <a:off x="2797315" y="2181504"/>
                <a:ext cx="0" cy="960120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" name="Straight Connector 9">
                <a:extLst>
                  <a:ext uri="{FF2B5EF4-FFF2-40B4-BE49-F238E27FC236}">
                    <a16:creationId xmlns:a16="http://schemas.microsoft.com/office/drawing/2014/main" id="{A3C2DC0C-ACDE-FC80-77A2-D6AE77A7ABF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392891" y="3664365"/>
                <a:ext cx="2907792" cy="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1084D445-606E-E95B-D970-D4A257F416DF}"/>
                  </a:ext>
                </a:extLst>
              </p:cNvPr>
              <p:cNvSpPr txBox="1"/>
              <p:nvPr/>
            </p:nvSpPr>
            <p:spPr>
              <a:xfrm>
                <a:off x="2692874" y="3684664"/>
                <a:ext cx="216071" cy="23620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>
                    <a:latin typeface="+mj-lt"/>
                  </a:rPr>
                  <a:t>L</a:t>
                </a:r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6D0A2E3-9E4D-A145-CBE8-FC0219B793C6}"/>
                  </a:ext>
                </a:extLst>
              </p:cNvPr>
              <p:cNvSpPr txBox="1"/>
              <p:nvPr/>
            </p:nvSpPr>
            <p:spPr>
              <a:xfrm>
                <a:off x="2693000" y="1945303"/>
                <a:ext cx="208629" cy="23620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>
                    <a:latin typeface="+mj-lt"/>
                  </a:rPr>
                  <a:t>P</a:t>
                </a:r>
              </a:p>
            </p:txBody>
          </p:sp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97810E41-3DAB-A272-DDC6-16B86C8A920E}"/>
                  </a:ext>
                </a:extLst>
              </p:cNvPr>
              <p:cNvSpPr/>
              <p:nvPr/>
            </p:nvSpPr>
            <p:spPr>
              <a:xfrm>
                <a:off x="1435608" y="3168789"/>
                <a:ext cx="2812415" cy="397404"/>
              </a:xfrm>
              <a:custGeom>
                <a:avLst/>
                <a:gdLst>
                  <a:gd name="csX0" fmla="*/ 0 w 2889504"/>
                  <a:gd name="csY0" fmla="*/ 18288 h 420657"/>
                  <a:gd name="csX1" fmla="*/ 1399032 w 2889504"/>
                  <a:gd name="csY1" fmla="*/ 420624 h 420657"/>
                  <a:gd name="csX2" fmla="*/ 2889504 w 2889504"/>
                  <a:gd name="csY2" fmla="*/ 0 h 42065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</a:cxnLst>
                <a:rect l="l" t="t" r="r" b="b"/>
                <a:pathLst>
                  <a:path w="2889504" h="420657">
                    <a:moveTo>
                      <a:pt x="0" y="18288"/>
                    </a:moveTo>
                    <a:cubicBezTo>
                      <a:pt x="458724" y="220980"/>
                      <a:pt x="917448" y="423672"/>
                      <a:pt x="1399032" y="420624"/>
                    </a:cubicBezTo>
                    <a:cubicBezTo>
                      <a:pt x="1880616" y="417576"/>
                      <a:pt x="2631948" y="92964"/>
                      <a:pt x="2889504" y="0"/>
                    </a:cubicBezTo>
                  </a:path>
                </a:pathLst>
              </a:custGeom>
              <a:ln w="28575">
                <a:solidFill>
                  <a:schemeClr val="tx1"/>
                </a:solidFill>
                <a:prstDash val="sysDash"/>
              </a:ln>
            </p:spPr>
            <p:style>
              <a:lnRef idx="1">
                <a:schemeClr val="accent4"/>
              </a:lnRef>
              <a:fillRef idx="0">
                <a:schemeClr val="accent4"/>
              </a:fillRef>
              <a:effectRef idx="0">
                <a:schemeClr val="accent4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4" name="TextBox 13">
                    <a:extLst>
                      <a:ext uri="{FF2B5EF4-FFF2-40B4-BE49-F238E27FC236}">
                        <a16:creationId xmlns:a16="http://schemas.microsoft.com/office/drawing/2014/main" id="{39D76540-5411-66A8-84BE-1D70192AA7C6}"/>
                      </a:ext>
                    </a:extLst>
                  </p:cNvPr>
                  <p:cNvSpPr txBox="1"/>
                  <p:nvPr/>
                </p:nvSpPr>
                <p:spPr>
                  <a:xfrm>
                    <a:off x="2773259" y="3220756"/>
                    <a:ext cx="414776" cy="236201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𝛿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12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sub>
                          </m:sSub>
                        </m:oMath>
                      </m:oMathPara>
                    </a14:m>
                    <a:endParaRPr lang="en-US" sz="1200" dirty="0">
                      <a:solidFill>
                        <a:schemeClr val="tx1"/>
                      </a:solidFill>
                      <a:latin typeface="+mj-lt"/>
                    </a:endParaRPr>
                  </a:p>
                </p:txBody>
              </p:sp>
            </mc:Choice>
            <mc:Fallback>
              <p:sp>
                <p:nvSpPr>
                  <p:cNvPr id="14" name="TextBox 13">
                    <a:extLst>
                      <a:ext uri="{FF2B5EF4-FFF2-40B4-BE49-F238E27FC236}">
                        <a16:creationId xmlns:a16="http://schemas.microsoft.com/office/drawing/2014/main" id="{39D76540-5411-66A8-84BE-1D70192AA7C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773259" y="3220756"/>
                    <a:ext cx="414776" cy="236201"/>
                  </a:xfrm>
                  <a:prstGeom prst="rect">
                    <a:avLst/>
                  </a:prstGeom>
                  <a:blipFill>
                    <a:blip r:embed="rId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608CB3CC-0C90-FA81-431E-7B97868AC4B7}"/>
                  </a:ext>
                </a:extLst>
              </p:cNvPr>
              <p:cNvCxnSpPr/>
              <p:nvPr/>
            </p:nvCxnSpPr>
            <p:spPr>
              <a:xfrm>
                <a:off x="1393653" y="3560626"/>
                <a:ext cx="0" cy="207478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6" name="Straight Connector 15">
                <a:extLst>
                  <a:ext uri="{FF2B5EF4-FFF2-40B4-BE49-F238E27FC236}">
                    <a16:creationId xmlns:a16="http://schemas.microsoft.com/office/drawing/2014/main" id="{308653C6-608C-332B-2978-5720D6E47B9C}"/>
                  </a:ext>
                </a:extLst>
              </p:cNvPr>
              <p:cNvCxnSpPr/>
              <p:nvPr/>
            </p:nvCxnSpPr>
            <p:spPr>
              <a:xfrm>
                <a:off x="4300683" y="3560626"/>
                <a:ext cx="0" cy="207478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99468E7A-60BE-3DF8-0869-981979E2D443}"/>
                  </a:ext>
                </a:extLst>
              </p:cNvPr>
              <p:cNvCxnSpPr>
                <a:cxnSpLocks/>
                <a:endCxn id="13" idx="1"/>
              </p:cNvCxnSpPr>
              <p:nvPr/>
            </p:nvCxnSpPr>
            <p:spPr>
              <a:xfrm>
                <a:off x="2797315" y="3168789"/>
                <a:ext cx="0" cy="397373"/>
              </a:xfrm>
              <a:prstGeom prst="line">
                <a:avLst/>
              </a:prstGeom>
              <a:ln w="9525">
                <a:solidFill>
                  <a:schemeClr val="tx1"/>
                </a:solidFill>
                <a:prstDash val="dash"/>
              </a:ln>
            </p:spPr>
            <p:style>
              <a:lnRef idx="2">
                <a:schemeClr val="accent4"/>
              </a:lnRef>
              <a:fillRef idx="0">
                <a:schemeClr val="accent4"/>
              </a:fillRef>
              <a:effectRef idx="1">
                <a:schemeClr val="accent4"/>
              </a:effectRef>
              <a:fontRef idx="minor">
                <a:schemeClr val="tx1"/>
              </a:fontRef>
            </p:style>
          </p:cxnSp>
        </p:grp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5EA85088-A89B-E209-1A48-D75BA19D1ABC}"/>
                </a:ext>
              </a:extLst>
            </p:cNvPr>
            <p:cNvCxnSpPr>
              <a:cxnSpLocks/>
            </p:cNvCxnSpPr>
            <p:nvPr/>
          </p:nvCxnSpPr>
          <p:spPr>
            <a:xfrm>
              <a:off x="5875197" y="4701462"/>
              <a:ext cx="1997982" cy="0"/>
            </a:xfrm>
            <a:prstGeom prst="line">
              <a:avLst/>
            </a:prstGeom>
            <a:ln w="57150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82A9E774-EDAA-452D-7B17-90BF97103E0F}"/>
                    </a:ext>
                  </a:extLst>
                </p:cNvPr>
                <p:cNvSpPr txBox="1"/>
                <p:nvPr/>
              </p:nvSpPr>
              <p:spPr>
                <a:xfrm>
                  <a:off x="4662637" y="4403197"/>
                  <a:ext cx="683515" cy="27699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1200" b="0" i="1" smtClean="0">
                              <a:solidFill>
                                <a:schemeClr val="tx2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solidFill>
                                <a:schemeClr val="tx2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sz="1200" b="0" i="1" smtClean="0">
                              <a:solidFill>
                                <a:schemeClr val="tx2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a14:m>
                  <a:r>
                    <a:rPr lang="en-US" sz="1200" dirty="0">
                      <a:solidFill>
                        <a:schemeClr val="tx2">
                          <a:lumMod val="50000"/>
                          <a:lumOff val="50000"/>
                        </a:schemeClr>
                      </a:solidFill>
                      <a:latin typeface="+mj-lt"/>
                    </a:rPr>
                    <a:t>= ?</a:t>
                  </a:r>
                </a:p>
              </p:txBody>
            </p:sp>
          </mc:Choice>
          <mc:Fallback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82A9E774-EDAA-452D-7B17-90BF97103E0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62637" y="4403197"/>
                  <a:ext cx="683515" cy="276999"/>
                </a:xfrm>
                <a:prstGeom prst="rect">
                  <a:avLst/>
                </a:prstGeom>
                <a:blipFill>
                  <a:blip r:embed="rId3"/>
                  <a:stretch>
                    <a:fillRect b="-1521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425477AF-41A0-F1B1-C0F1-399A93DECCA3}"/>
                    </a:ext>
                  </a:extLst>
                </p:cNvPr>
                <p:cNvSpPr txBox="1"/>
                <p:nvPr/>
              </p:nvSpPr>
              <p:spPr>
                <a:xfrm>
                  <a:off x="6572198" y="4420437"/>
                  <a:ext cx="683515" cy="27699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1200" b="0" i="1" smtClean="0">
                              <a:solidFill>
                                <a:schemeClr val="accent1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solidFill>
                                <a:schemeClr val="accent1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sz="1200" b="0" i="1" smtClean="0">
                              <a:solidFill>
                                <a:schemeClr val="accent1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a14:m>
                  <a:r>
                    <a:rPr lang="en-US" sz="1200" dirty="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latin typeface="+mj-lt"/>
                    </a:rPr>
                    <a:t>= ?</a:t>
                  </a:r>
                </a:p>
              </p:txBody>
            </p:sp>
          </mc:Choice>
          <mc:Fallback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425477AF-41A0-F1B1-C0F1-399A93DECCA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72198" y="4420437"/>
                  <a:ext cx="683515" cy="276999"/>
                </a:xfrm>
                <a:prstGeom prst="rect">
                  <a:avLst/>
                </a:prstGeom>
                <a:blipFill>
                  <a:blip r:embed="rId4"/>
                  <a:stretch>
                    <a:fillRect b="-1521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2A78100B-49C1-9EEC-02F6-3F94B4471611}"/>
              </a:ext>
            </a:extLst>
          </p:cNvPr>
          <p:cNvSpPr txBox="1"/>
          <p:nvPr/>
        </p:nvSpPr>
        <p:spPr>
          <a:xfrm>
            <a:off x="838200" y="1551557"/>
            <a:ext cx="932078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+mj-lt"/>
              </a:rPr>
              <a:t>Approaches to solve:</a:t>
            </a:r>
          </a:p>
          <a:p>
            <a:pPr marL="342900" indent="-342900">
              <a:buAutoNum type="arabicPeriod"/>
            </a:pPr>
            <a:r>
              <a:rPr lang="en-US">
                <a:latin typeface="+mj-lt"/>
              </a:rPr>
              <a:t>Optimization Solve</a:t>
            </a:r>
            <a:endParaRPr lang="en-US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3475861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imes New Roman-Arial">
      <a:majorFont>
        <a:latin typeface="Times New Roman" panose="02020603050405020304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1132</TotalTime>
  <Words>696</Words>
  <Application>Microsoft Office PowerPoint</Application>
  <PresentationFormat>Widescreen</PresentationFormat>
  <Paragraphs>136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Aptos</vt:lpstr>
      <vt:lpstr>Arial</vt:lpstr>
      <vt:lpstr>Cambria Math</vt:lpstr>
      <vt:lpstr>Times New Roman</vt:lpstr>
      <vt:lpstr>Office Theme</vt:lpstr>
      <vt:lpstr>Inverse Mechanics Introduction</vt:lpstr>
      <vt:lpstr>Definitions [1]</vt:lpstr>
      <vt:lpstr>Example 1: Image Processing</vt:lpstr>
      <vt:lpstr>Definitions [2]</vt:lpstr>
      <vt:lpstr>Definitions [3]</vt:lpstr>
      <vt:lpstr>Example 2: An Everyday Problem</vt:lpstr>
      <vt:lpstr>Example 3: Simple Beam</vt:lpstr>
      <vt:lpstr>Simple Beam Problem</vt:lpstr>
      <vt:lpstr>Example: Simple Beam with Two Materials</vt:lpstr>
      <vt:lpstr>Example: Simple Beam with Two Materials</vt:lpstr>
      <vt:lpstr>Example: Simple Beam with Two Materials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Yang, Johnson</dc:creator>
  <cp:lastModifiedBy>Yang, Johnson</cp:lastModifiedBy>
  <cp:revision>9</cp:revision>
  <dcterms:created xsi:type="dcterms:W3CDTF">2025-12-13T20:52:53Z</dcterms:created>
  <dcterms:modified xsi:type="dcterms:W3CDTF">2026-01-30T04:17:14Z</dcterms:modified>
</cp:coreProperties>
</file>