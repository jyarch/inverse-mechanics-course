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2"/>
    <p:sldId id="261" r:id="rId3"/>
    <p:sldId id="259" r:id="rId4"/>
    <p:sldId id="264" r:id="rId5"/>
    <p:sldId id="265" r:id="rId6"/>
    <p:sldId id="269" r:id="rId7"/>
    <p:sldId id="266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ang, Johnson" userId="89424e7b-9fac-45cd-9016-7e93402078f1" providerId="ADAL" clId="{058A9F62-D186-4AF4-91E1-78AFFEA7CB5D}"/>
    <pc:docChg chg="addSld modSld">
      <pc:chgData name="Yang, Johnson" userId="89424e7b-9fac-45cd-9016-7e93402078f1" providerId="ADAL" clId="{058A9F62-D186-4AF4-91E1-78AFFEA7CB5D}" dt="2026-01-07T02:17:55.490" v="6" actId="680"/>
      <pc:docMkLst>
        <pc:docMk/>
      </pc:docMkLst>
      <pc:sldChg chg="modSp mod">
        <pc:chgData name="Yang, Johnson" userId="89424e7b-9fac-45cd-9016-7e93402078f1" providerId="ADAL" clId="{058A9F62-D186-4AF4-91E1-78AFFEA7CB5D}" dt="2026-01-07T02:17:48.653" v="5" actId="20577"/>
        <pc:sldMkLst>
          <pc:docMk/>
          <pc:sldMk cId="2383413940" sldId="256"/>
        </pc:sldMkLst>
        <pc:spChg chg="mod">
          <ac:chgData name="Yang, Johnson" userId="89424e7b-9fac-45cd-9016-7e93402078f1" providerId="ADAL" clId="{058A9F62-D186-4AF4-91E1-78AFFEA7CB5D}" dt="2026-01-07T02:17:48.653" v="5" actId="20577"/>
          <ac:spMkLst>
            <pc:docMk/>
            <pc:sldMk cId="2383413940" sldId="256"/>
            <ac:spMk id="3" creationId="{D4943E14-DE0D-71F7-5C56-EBBE51840036}"/>
          </ac:spMkLst>
        </pc:spChg>
      </pc:sldChg>
      <pc:sldChg chg="new">
        <pc:chgData name="Yang, Johnson" userId="89424e7b-9fac-45cd-9016-7e93402078f1" providerId="ADAL" clId="{058A9F62-D186-4AF4-91E1-78AFFEA7CB5D}" dt="2026-01-07T02:17:55.490" v="6" actId="680"/>
        <pc:sldMkLst>
          <pc:docMk/>
          <pc:sldMk cId="3825483197" sldId="258"/>
        </pc:sldMkLst>
      </pc:sldChg>
    </pc:docChg>
  </pc:docChgLst>
  <pc:docChgLst>
    <pc:chgData name="Yang, Johnson" userId="89424e7b-9fac-45cd-9016-7e93402078f1" providerId="ADAL" clId="{B180C5B1-A979-45A1-9F77-E194B361D298}"/>
    <pc:docChg chg="undo custSel addSld delSld modSld">
      <pc:chgData name="Yang, Johnson" userId="89424e7b-9fac-45cd-9016-7e93402078f1" providerId="ADAL" clId="{B180C5B1-A979-45A1-9F77-E194B361D298}" dt="2026-01-14T23:41:39.168" v="232" actId="1076"/>
      <pc:docMkLst>
        <pc:docMk/>
      </pc:docMkLst>
      <pc:sldChg chg="modSp mod">
        <pc:chgData name="Yang, Johnson" userId="89424e7b-9fac-45cd-9016-7e93402078f1" providerId="ADAL" clId="{B180C5B1-A979-45A1-9F77-E194B361D298}" dt="2026-01-14T23:38:14.530" v="213" actId="20577"/>
        <pc:sldMkLst>
          <pc:docMk/>
          <pc:sldMk cId="2455786776" sldId="257"/>
        </pc:sldMkLst>
        <pc:spChg chg="mod">
          <ac:chgData name="Yang, Johnson" userId="89424e7b-9fac-45cd-9016-7e93402078f1" providerId="ADAL" clId="{B180C5B1-A979-45A1-9F77-E194B361D298}" dt="2026-01-14T23:36:45.058" v="100" actId="20577"/>
          <ac:spMkLst>
            <pc:docMk/>
            <pc:sldMk cId="2455786776" sldId="257"/>
            <ac:spMk id="2" creationId="{9E2605ED-D038-EF3A-A4F9-DBFE434ED9F0}"/>
          </ac:spMkLst>
        </pc:spChg>
        <pc:spChg chg="mod">
          <ac:chgData name="Yang, Johnson" userId="89424e7b-9fac-45cd-9016-7e93402078f1" providerId="ADAL" clId="{B180C5B1-A979-45A1-9F77-E194B361D298}" dt="2026-01-14T23:38:14.530" v="213" actId="20577"/>
          <ac:spMkLst>
            <pc:docMk/>
            <pc:sldMk cId="2455786776" sldId="257"/>
            <ac:spMk id="3" creationId="{75D931D5-EACD-FEF6-3CF2-2D2C006EBAB6}"/>
          </ac:spMkLst>
        </pc:spChg>
      </pc:sldChg>
      <pc:sldChg chg="addSp modSp mod">
        <pc:chgData name="Yang, Johnson" userId="89424e7b-9fac-45cd-9016-7e93402078f1" providerId="ADAL" clId="{B180C5B1-A979-45A1-9F77-E194B361D298}" dt="2026-01-14T23:39:37.439" v="216" actId="1076"/>
        <pc:sldMkLst>
          <pc:docMk/>
          <pc:sldMk cId="3825483197" sldId="258"/>
        </pc:sldMkLst>
        <pc:picChg chg="add mod">
          <ac:chgData name="Yang, Johnson" userId="89424e7b-9fac-45cd-9016-7e93402078f1" providerId="ADAL" clId="{B180C5B1-A979-45A1-9F77-E194B361D298}" dt="2026-01-14T23:39:37.439" v="216" actId="1076"/>
          <ac:picMkLst>
            <pc:docMk/>
            <pc:sldMk cId="3825483197" sldId="258"/>
            <ac:picMk id="6" creationId="{AEA1D454-A526-E70C-6F26-76E204AD399A}"/>
          </ac:picMkLst>
        </pc:picChg>
      </pc:sldChg>
      <pc:sldChg chg="new del">
        <pc:chgData name="Yang, Johnson" userId="89424e7b-9fac-45cd-9016-7e93402078f1" providerId="ADAL" clId="{B180C5B1-A979-45A1-9F77-E194B361D298}" dt="2026-01-14T23:39:44.415" v="218" actId="680"/>
        <pc:sldMkLst>
          <pc:docMk/>
          <pc:sldMk cId="1703784009" sldId="259"/>
        </pc:sldMkLst>
      </pc:sldChg>
      <pc:sldChg chg="addSp delSp modSp new mod">
        <pc:chgData name="Yang, Johnson" userId="89424e7b-9fac-45cd-9016-7e93402078f1" providerId="ADAL" clId="{B180C5B1-A979-45A1-9F77-E194B361D298}" dt="2026-01-14T23:40:06.257" v="224" actId="1076"/>
        <pc:sldMkLst>
          <pc:docMk/>
          <pc:sldMk cId="3655632260" sldId="259"/>
        </pc:sldMkLst>
        <pc:picChg chg="add del">
          <ac:chgData name="Yang, Johnson" userId="89424e7b-9fac-45cd-9016-7e93402078f1" providerId="ADAL" clId="{B180C5B1-A979-45A1-9F77-E194B361D298}" dt="2026-01-14T23:39:52.807" v="221" actId="22"/>
          <ac:picMkLst>
            <pc:docMk/>
            <pc:sldMk cId="3655632260" sldId="259"/>
            <ac:picMk id="6" creationId="{CE6572C5-3799-9803-3038-E309D91C894E}"/>
          </ac:picMkLst>
        </pc:picChg>
        <pc:picChg chg="add mod">
          <ac:chgData name="Yang, Johnson" userId="89424e7b-9fac-45cd-9016-7e93402078f1" providerId="ADAL" clId="{B180C5B1-A979-45A1-9F77-E194B361D298}" dt="2026-01-14T23:40:06.257" v="224" actId="1076"/>
          <ac:picMkLst>
            <pc:docMk/>
            <pc:sldMk cId="3655632260" sldId="259"/>
            <ac:picMk id="8" creationId="{F4EAA997-D686-0F1D-D19B-785B95529E95}"/>
          </ac:picMkLst>
        </pc:picChg>
      </pc:sldChg>
      <pc:sldChg chg="addSp delSp modSp add mod">
        <pc:chgData name="Yang, Johnson" userId="89424e7b-9fac-45cd-9016-7e93402078f1" providerId="ADAL" clId="{B180C5B1-A979-45A1-9F77-E194B361D298}" dt="2026-01-14T23:41:39.168" v="232" actId="1076"/>
        <pc:sldMkLst>
          <pc:docMk/>
          <pc:sldMk cId="3177618537" sldId="260"/>
        </pc:sldMkLst>
        <pc:spChg chg="mod">
          <ac:chgData name="Yang, Johnson" userId="89424e7b-9fac-45cd-9016-7e93402078f1" providerId="ADAL" clId="{B180C5B1-A979-45A1-9F77-E194B361D298}" dt="2026-01-14T23:40:08.534" v="226" actId="27636"/>
          <ac:spMkLst>
            <pc:docMk/>
            <pc:sldMk cId="3177618537" sldId="260"/>
            <ac:spMk id="2" creationId="{DD10CA0E-F9BF-7C6F-D175-5971F7A9596E}"/>
          </ac:spMkLst>
        </pc:spChg>
        <pc:picChg chg="add mod">
          <ac:chgData name="Yang, Johnson" userId="89424e7b-9fac-45cd-9016-7e93402078f1" providerId="ADAL" clId="{B180C5B1-A979-45A1-9F77-E194B361D298}" dt="2026-01-14T23:41:39.168" v="232" actId="1076"/>
          <ac:picMkLst>
            <pc:docMk/>
            <pc:sldMk cId="3177618537" sldId="260"/>
            <ac:picMk id="6" creationId="{13CCF8AF-BFB5-F127-E393-9B26B4EBA727}"/>
          </ac:picMkLst>
        </pc:picChg>
        <pc:picChg chg="del">
          <ac:chgData name="Yang, Johnson" userId="89424e7b-9fac-45cd-9016-7e93402078f1" providerId="ADAL" clId="{B180C5B1-A979-45A1-9F77-E194B361D298}" dt="2026-01-14T23:40:09.749" v="227" actId="478"/>
          <ac:picMkLst>
            <pc:docMk/>
            <pc:sldMk cId="3177618537" sldId="260"/>
            <ac:picMk id="8" creationId="{4E92E0B2-B7AF-D7F5-7025-1733AAE525E6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1F1D0A3-A730-1EE2-0EEB-262D2495859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25061B-C45A-8208-100E-BF0E11F17D9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E7365E-7303-4AD9-8FBF-4B173A7D9DE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339A9C-34F5-FD66-3D77-9201CDE56D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0F96CD-00CD-B48B-0097-AC612240508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3DA9F1-9436-46C5-B488-D9A887B455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07370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2898FD-25D5-4BC2-95FB-0E9BA7ACA22E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C8204A-43A9-4FC9-A2DC-0B186264B9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734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B83BF-BDE2-AA6B-8108-5E2FEF06AB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284BAC-9EB8-77A5-41B2-2256C1C2A5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303387-0FE2-E564-43FF-F31A4EA26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1C61C7-5442-CF50-B950-61C9BD371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295DD0-D6BE-ECED-C328-3D9B61B7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288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AE425-165E-3737-7FBE-3535CBD95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0576"/>
            <a:ext cx="10515600" cy="55547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BE21E-E51D-6080-5825-563897BD66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7797"/>
            <a:ext cx="10515600" cy="4351338"/>
          </a:xfrm>
        </p:spPr>
        <p:txBody>
          <a:bodyPr/>
          <a:lstStyle>
            <a:lvl1pPr>
              <a:defRPr sz="2400">
                <a:latin typeface="+mj-lt"/>
              </a:defRPr>
            </a:lvl1pPr>
            <a:lvl2pPr>
              <a:defRPr sz="2400">
                <a:latin typeface="+mj-lt"/>
              </a:defRPr>
            </a:lvl2pPr>
            <a:lvl3pPr>
              <a:defRPr sz="2400">
                <a:latin typeface="+mj-lt"/>
              </a:defRPr>
            </a:lvl3pPr>
            <a:lvl4pPr>
              <a:defRPr sz="2400">
                <a:latin typeface="+mj-lt"/>
              </a:defRPr>
            </a:lvl4pPr>
            <a:lvl5pPr>
              <a:defRPr sz="2400"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91A100-D645-F4E1-28E5-BBB8CA5D6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A119E5-1140-09D6-FA15-514FCBB1F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1A02A9-98D8-3C8C-ACD9-0CA2D0374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E20B2C0-A147-0847-3314-97EDC5BADE5B}"/>
              </a:ext>
            </a:extLst>
          </p:cNvPr>
          <p:cNvCxnSpPr>
            <a:cxnSpLocks/>
          </p:cNvCxnSpPr>
          <p:nvPr userDrawn="1"/>
        </p:nvCxnSpPr>
        <p:spPr>
          <a:xfrm>
            <a:off x="838200" y="1384420"/>
            <a:ext cx="10515600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2551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2C710-3A58-541F-9EE1-6ACC81858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A61F84-44D4-3922-AC5C-20E6DA908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866C4-1EE6-9480-9079-6BC828CF8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459E6F-0345-8A58-B119-20A255041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3046EF-3C8D-3F38-4018-55D7C797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143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1D329-85DA-B07C-E12C-16C982631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68D9CE-78AE-8909-F2B1-3EDAAEF510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DBECFD-2F9A-585A-4BC8-CF76781831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36A875-1C2B-541A-32E2-4F0C76751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5D93D4-EF1C-7AD2-580C-0C219571E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875D7B-FEC2-989C-4768-48B721425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77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BA0F2-36A1-80AC-5D22-D8326E94B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16F371-5C85-6468-F30B-1E15B2F4A3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D45CC8-35A8-CD17-F321-23629FA27C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734A85-473C-A1D9-200C-13EBD0EDAD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78C76E-FBC9-F788-5877-472054A43F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2D9FB0-AB34-2BBB-2693-114DBDFEC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DCF88A-4C7C-8649-BB81-5FC01CEF6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408D89-152A-68C2-5CA3-1442CE7A0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55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EF9F9-ED48-F962-E094-6A48ADD73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A039B6-E1A7-9842-A531-93ABD8F28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6D6013-F00F-5847-D211-7BA71116F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E32ACB-964A-65B2-8300-32F11CF87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89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7288DB-9434-9BC2-5A2D-9B12AB809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C2EEB0-C498-310B-6266-6E2255B36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B8CB63-56A7-ED6C-2AF3-A1F294FB1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1177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5E7A4-BE4F-4FFB-0490-0263A2E46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8E92A-391D-CF28-751B-D09BE0AF8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latin typeface="+mj-lt"/>
              </a:defRPr>
            </a:lvl1pPr>
            <a:lvl2pPr>
              <a:defRPr sz="2800">
                <a:latin typeface="+mj-lt"/>
              </a:defRPr>
            </a:lvl2pPr>
            <a:lvl3pPr>
              <a:defRPr sz="2400">
                <a:latin typeface="+mj-lt"/>
              </a:defRPr>
            </a:lvl3pPr>
            <a:lvl4pPr>
              <a:defRPr sz="2000">
                <a:latin typeface="+mj-lt"/>
              </a:defRPr>
            </a:lvl4pPr>
            <a:lvl5pPr>
              <a:defRPr sz="2000">
                <a:latin typeface="+mj-lt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D52035-7D78-B935-B472-ADF8CE006D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201C41-3CFF-E137-3E3D-3E3A4B37E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16B72C-605B-28F5-DBD5-FF7C2974D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13ACCC-0F6D-879E-E1C6-AA5FF4059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874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EA17B-1346-132B-EB02-023D96233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DF0A36-71C8-4B8A-31BD-FA0772E627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A22865-B8C9-F842-DA8E-C3CA4C3793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293E2E-BEE3-52E2-6CF0-747CF7C48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09629B-C04A-F84E-EF41-AE2633D8A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9AD050-BFD6-F208-F628-E0F487662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065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3EB96-440B-3C50-4E9B-16BC1F174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A82686-04C0-4E04-A82B-A50E56F871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4B44A-5310-E86D-A1A2-2394EAE8B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67C07B-2854-2FDF-5F5D-2E3649C7A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A715D-8A20-D968-9E03-51D36E3CA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226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867E8C-C78D-B3F4-6D4E-E88F411F35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DA8BE8-0D63-D2BA-0FEF-841F303BDF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F607E0-BBC8-8A8D-B200-A8DA7D6E9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32495D-6ADF-6784-1B78-D4D5F98EE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E975D2-3B17-A0D0-5A1E-F81CB2B17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635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3DA6B8-C0AC-C79E-FDC5-A2564A21B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C1698F-AD20-3E68-0D6F-597E259F6F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C35D4-A9AE-C013-489D-F6428ABCAB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12/13/2025</a:t>
            </a:r>
            <a:endParaRPr lang="en-US" dirty="0">
              <a:latin typeface="+mj-lt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4D4F5E-1593-6FFE-E83C-48F26BF45D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+mj-lt"/>
              </a:defRPr>
            </a:lvl1pPr>
          </a:lstStyle>
          <a:p>
            <a:endParaRPr lang="en-US" dirty="0">
              <a:latin typeface="+mj-l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5F2E4D-8C92-74A3-6F6C-4B433AB987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+mj-lt"/>
              </a:defRPr>
            </a:lvl1pPr>
          </a:lstStyle>
          <a:p>
            <a:fld id="{D95F4311-C1C1-468E-90BA-469E1A493750}" type="slidenum">
              <a:rPr lang="en-US" smtClean="0"/>
              <a:pPr/>
              <a:t>‹#›</a:t>
            </a:fld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0016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5B6D4-DA63-6361-60B3-F26C1FDFF2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US" b="1" dirty="0"/>
              <a:t>Inverse Mechanics</a:t>
            </a:r>
            <a:br>
              <a:rPr lang="en-US" dirty="0"/>
            </a:br>
            <a:r>
              <a:rPr lang="en-US" sz="4800" dirty="0"/>
              <a:t>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943E14-DE0D-71F7-5C56-EBBE51840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en-US" dirty="0"/>
              <a:t>Spring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B869FF-757C-5CFB-FBEC-2D0DFEBA7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413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39068-EE07-EA69-02B1-F7A8091E5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Definitions [1]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CA9273-C9AB-73FF-60FA-72A691726C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Problems Archetypes</a:t>
                </a:r>
              </a:p>
              <a:p>
                <a:r>
                  <a:rPr lang="en-US" dirty="0"/>
                  <a:t>Direct – given object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determine data</a:t>
                </a:r>
              </a:p>
              <a:p>
                <a:r>
                  <a:rPr lang="en-US" dirty="0"/>
                  <a:t>Inverse – given data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recover object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Mechanical Analysis Framework</a:t>
                </a:r>
              </a:p>
              <a:p>
                <a:r>
                  <a:rPr lang="en-US" dirty="0"/>
                  <a:t>Forward Mechanics – predicting responses from known parameters</a:t>
                </a:r>
              </a:p>
              <a:p>
                <a:r>
                  <a:rPr lang="en-US" dirty="0"/>
                  <a:t>Inverse Mechanics – predicting parameters from known responses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CA9273-C9AB-73FF-60FA-72A691726C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BE9857-F4C6-AC72-D989-BB889D1C6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2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B613621-C9CC-D836-B1BF-467E44C4896C}"/>
              </a:ext>
            </a:extLst>
          </p:cNvPr>
          <p:cNvGrpSpPr/>
          <p:nvPr/>
        </p:nvGrpSpPr>
        <p:grpSpPr>
          <a:xfrm>
            <a:off x="6852866" y="1577797"/>
            <a:ext cx="4192531" cy="2087668"/>
            <a:chOff x="7008314" y="1577797"/>
            <a:chExt cx="4192531" cy="2087668"/>
          </a:xfrm>
        </p:grpSpPr>
        <p:sp>
          <p:nvSpPr>
            <p:cNvPr id="5" name="Arrow: Curved Down 4">
              <a:extLst>
                <a:ext uri="{FF2B5EF4-FFF2-40B4-BE49-F238E27FC236}">
                  <a16:creationId xmlns:a16="http://schemas.microsoft.com/office/drawing/2014/main" id="{25AF19CA-304A-4F3F-3ECB-39719D94DFE9}"/>
                </a:ext>
              </a:extLst>
            </p:cNvPr>
            <p:cNvSpPr/>
            <p:nvPr/>
          </p:nvSpPr>
          <p:spPr>
            <a:xfrm>
              <a:off x="7434072" y="1968972"/>
              <a:ext cx="3575304" cy="359853"/>
            </a:xfrm>
            <a:prstGeom prst="curved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Arrow: Curved Down 5">
              <a:extLst>
                <a:ext uri="{FF2B5EF4-FFF2-40B4-BE49-F238E27FC236}">
                  <a16:creationId xmlns:a16="http://schemas.microsoft.com/office/drawing/2014/main" id="{757F440A-2A9A-9356-A863-7BC4332CCFE4}"/>
                </a:ext>
              </a:extLst>
            </p:cNvPr>
            <p:cNvSpPr/>
            <p:nvPr/>
          </p:nvSpPr>
          <p:spPr>
            <a:xfrm rot="10800000">
              <a:off x="7434072" y="2936279"/>
              <a:ext cx="3456432" cy="359853"/>
            </a:xfrm>
            <a:prstGeom prst="curved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33AE04B-1F41-8BDC-1946-214AB1E196CB}"/>
                </a:ext>
              </a:extLst>
            </p:cNvPr>
            <p:cNvSpPr txBox="1"/>
            <p:nvPr/>
          </p:nvSpPr>
          <p:spPr>
            <a:xfrm>
              <a:off x="7008314" y="2447886"/>
              <a:ext cx="8002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+mj-lt"/>
                </a:rPr>
                <a:t>Object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A24AAE0-9360-AA82-B753-2A6BEE8C583C}"/>
                </a:ext>
              </a:extLst>
            </p:cNvPr>
            <p:cNvSpPr txBox="1"/>
            <p:nvPr/>
          </p:nvSpPr>
          <p:spPr>
            <a:xfrm>
              <a:off x="10580162" y="2436075"/>
              <a:ext cx="6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+mj-lt"/>
                </a:rPr>
                <a:t>Data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89A1B66-C25F-48DA-70D7-DA9C35FC4C91}"/>
                </a:ext>
              </a:extLst>
            </p:cNvPr>
            <p:cNvSpPr txBox="1"/>
            <p:nvPr/>
          </p:nvSpPr>
          <p:spPr>
            <a:xfrm>
              <a:off x="8369567" y="3296133"/>
              <a:ext cx="17043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+mj-lt"/>
                </a:rPr>
                <a:t>Inverse Problem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6F27987-9610-BBDD-AF79-F6C9F1F09ECC}"/>
                </a:ext>
              </a:extLst>
            </p:cNvPr>
            <p:cNvSpPr txBox="1"/>
            <p:nvPr/>
          </p:nvSpPr>
          <p:spPr>
            <a:xfrm>
              <a:off x="8361427" y="1577797"/>
              <a:ext cx="16017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+mj-lt"/>
                </a:rPr>
                <a:t>Direct Problem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6324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B314A-831E-57EC-276C-6075D4EC9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Definitions [2]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3B243-6182-D01D-A787-7CBEE284C0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problem is defined as </a:t>
            </a:r>
            <a:r>
              <a:rPr lang="en-US" b="1" dirty="0"/>
              <a:t>well-posed</a:t>
            </a:r>
            <a:r>
              <a:rPr lang="en-US" dirty="0"/>
              <a:t> if </a:t>
            </a:r>
            <a:r>
              <a:rPr lang="en-US" u="sng" dirty="0"/>
              <a:t>all</a:t>
            </a:r>
            <a:r>
              <a:rPr lang="en-US" dirty="0"/>
              <a:t> the following conditions hold:</a:t>
            </a:r>
            <a:endParaRPr lang="en-US" u="sng" dirty="0"/>
          </a:p>
          <a:p>
            <a:pPr marL="457200" indent="-457200">
              <a:buAutoNum type="arabicPeriod"/>
            </a:pPr>
            <a:r>
              <a:rPr lang="en-US" dirty="0"/>
              <a:t>Existence</a:t>
            </a:r>
          </a:p>
          <a:p>
            <a:pPr marL="457200" indent="-457200">
              <a:buAutoNum type="arabicPeriod"/>
            </a:pPr>
            <a:r>
              <a:rPr lang="en-US" dirty="0"/>
              <a:t>Uniqueness</a:t>
            </a:r>
          </a:p>
          <a:p>
            <a:pPr marL="457200" indent="-457200">
              <a:buAutoNum type="arabicPeriod"/>
            </a:pPr>
            <a:r>
              <a:rPr lang="en-US" dirty="0"/>
              <a:t>Stability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If any conditions do not hold, the problem is defined as </a:t>
            </a:r>
            <a:r>
              <a:rPr lang="en-US" b="1" dirty="0"/>
              <a:t>ill-posed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474E5E-D961-7725-C899-CC2F662E6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632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1085-30FD-BBAD-40A8-69D72B452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E20B3-19B9-BA9A-6240-C3A1B7B74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Definitions [3]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0B91C7-02DE-A9D0-305A-CE64E3F6BE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A problem is defined as </a:t>
            </a:r>
            <a:r>
              <a:rPr lang="en-US" sz="1800" b="1" dirty="0"/>
              <a:t>well-posed</a:t>
            </a:r>
            <a:r>
              <a:rPr lang="en-US" sz="1800" dirty="0"/>
              <a:t> if </a:t>
            </a:r>
            <a:r>
              <a:rPr lang="en-US" sz="1800" u="sng" dirty="0"/>
              <a:t>all</a:t>
            </a:r>
            <a:r>
              <a:rPr lang="en-US" sz="1800" dirty="0"/>
              <a:t> the following conditions hold:</a:t>
            </a:r>
            <a:endParaRPr lang="en-US" sz="1800" u="sng" dirty="0"/>
          </a:p>
          <a:p>
            <a:pPr marL="457200" indent="-457200">
              <a:buAutoNum type="arabicPeriod"/>
            </a:pPr>
            <a:r>
              <a:rPr lang="en-US" sz="1800" b="1" dirty="0"/>
              <a:t>Existence</a:t>
            </a:r>
          </a:p>
          <a:p>
            <a:pPr marL="457200" indent="-457200">
              <a:buAutoNum type="arabicPeriod"/>
            </a:pPr>
            <a:r>
              <a:rPr lang="en-US" sz="1800" dirty="0"/>
              <a:t>Uniqueness</a:t>
            </a:r>
          </a:p>
          <a:p>
            <a:pPr marL="457200" indent="-457200">
              <a:buAutoNum type="arabicPeriod"/>
            </a:pPr>
            <a:r>
              <a:rPr lang="en-US" sz="1800" dirty="0"/>
              <a:t>Stability</a:t>
            </a:r>
          </a:p>
          <a:p>
            <a:pPr marL="457200" indent="-457200">
              <a:buAutoNum type="arabicPeriod"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Existence – a solution must always exist for the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176B9-3C7A-0A11-3097-232FD728B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688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5B131-3CB5-D155-228D-09703719D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5EFCC-9BF6-7D4F-BE72-A216AAB7E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Definitions [4]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695358-C0B3-337C-0701-7950510ACF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A problem is defined as </a:t>
            </a:r>
            <a:r>
              <a:rPr lang="en-US" sz="1800" b="1" dirty="0"/>
              <a:t>well-posed</a:t>
            </a:r>
            <a:r>
              <a:rPr lang="en-US" sz="1800" dirty="0"/>
              <a:t> if </a:t>
            </a:r>
            <a:r>
              <a:rPr lang="en-US" sz="1800" u="sng" dirty="0"/>
              <a:t>all</a:t>
            </a:r>
            <a:r>
              <a:rPr lang="en-US" sz="1800" dirty="0"/>
              <a:t> the following conditions hold:</a:t>
            </a:r>
            <a:endParaRPr lang="en-US" sz="1800" u="sng" dirty="0"/>
          </a:p>
          <a:p>
            <a:pPr marL="457200" indent="-457200">
              <a:buAutoNum type="arabicPeriod"/>
            </a:pPr>
            <a:r>
              <a:rPr lang="en-US" sz="1800" dirty="0"/>
              <a:t>Existence</a:t>
            </a:r>
          </a:p>
          <a:p>
            <a:pPr marL="457200" indent="-457200">
              <a:buAutoNum type="arabicPeriod"/>
            </a:pPr>
            <a:r>
              <a:rPr lang="en-US" sz="1800" b="1" dirty="0"/>
              <a:t>Uniqueness</a:t>
            </a:r>
          </a:p>
          <a:p>
            <a:pPr marL="457200" indent="-457200">
              <a:buAutoNum type="arabicPeriod"/>
            </a:pPr>
            <a:r>
              <a:rPr lang="en-US" sz="1800" dirty="0"/>
              <a:t>Stability</a:t>
            </a:r>
          </a:p>
          <a:p>
            <a:pPr marL="457200" indent="-457200">
              <a:buAutoNum type="arabicPeriod"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Uniqueness – one solution for each problem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E70D9D-1B79-A343-FEA2-C9DFFE464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9021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7629E-4D0A-29C4-28D0-021CF1885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A226B-780D-D433-302E-4D4252E6E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Definitions [5]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518F25-5A18-55FC-EB32-ACB322ED0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A problem is defined as </a:t>
            </a:r>
            <a:r>
              <a:rPr lang="en-US" sz="1800" b="1" dirty="0"/>
              <a:t>well-posed</a:t>
            </a:r>
            <a:r>
              <a:rPr lang="en-US" sz="1800" dirty="0"/>
              <a:t> if </a:t>
            </a:r>
            <a:r>
              <a:rPr lang="en-US" sz="1800" u="sng" dirty="0"/>
              <a:t>all</a:t>
            </a:r>
            <a:r>
              <a:rPr lang="en-US" sz="1800" dirty="0"/>
              <a:t> the following conditions hold:</a:t>
            </a:r>
            <a:endParaRPr lang="en-US" sz="1800" u="sng" dirty="0"/>
          </a:p>
          <a:p>
            <a:pPr marL="457200" indent="-457200">
              <a:buAutoNum type="arabicPeriod"/>
            </a:pPr>
            <a:r>
              <a:rPr lang="en-US" sz="1800" dirty="0"/>
              <a:t>Existence</a:t>
            </a:r>
          </a:p>
          <a:p>
            <a:pPr marL="457200" indent="-457200">
              <a:buAutoNum type="arabicPeriod"/>
            </a:pPr>
            <a:r>
              <a:rPr lang="en-US" sz="1800" dirty="0"/>
              <a:t>Uniqueness</a:t>
            </a:r>
          </a:p>
          <a:p>
            <a:pPr marL="457200" indent="-457200">
              <a:buAutoNum type="arabicPeriod"/>
            </a:pPr>
            <a:r>
              <a:rPr lang="en-US" sz="1800" dirty="0"/>
              <a:t>Stability</a:t>
            </a:r>
          </a:p>
          <a:p>
            <a:pPr marL="457200" indent="-457200">
              <a:buAutoNum type="arabicPeriod"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Stability – small changes in initial conditions lead to small changes in the solution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242188-38D9-190E-C88F-F071298D7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1278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7E36B-F203-DD4F-D7A7-1266C68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F4D94-A1BA-5A48-086A-CB9A31B71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Definitions [6]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BD7F75-2879-CA2B-B12F-2D16365CE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A problem is defined as </a:t>
            </a:r>
            <a:r>
              <a:rPr lang="en-US" sz="1800" b="1" dirty="0"/>
              <a:t>ill-posed</a:t>
            </a:r>
            <a:r>
              <a:rPr lang="en-US" sz="1800" dirty="0"/>
              <a:t> if </a:t>
            </a:r>
            <a:r>
              <a:rPr lang="en-US" sz="1800" u="sng" dirty="0"/>
              <a:t>any</a:t>
            </a:r>
            <a:r>
              <a:rPr lang="en-US" sz="1800" dirty="0"/>
              <a:t> the following conditions hold:</a:t>
            </a:r>
            <a:endParaRPr lang="en-US" sz="1800" u="sng" dirty="0"/>
          </a:p>
          <a:p>
            <a:pPr marL="457200" indent="-457200">
              <a:buAutoNum type="arabicPeriod"/>
            </a:pPr>
            <a:r>
              <a:rPr lang="en-US" sz="1800" dirty="0"/>
              <a:t>A solution may does not exist</a:t>
            </a:r>
          </a:p>
          <a:p>
            <a:pPr marL="457200" indent="-457200">
              <a:buAutoNum type="arabicPeriod"/>
            </a:pPr>
            <a:r>
              <a:rPr lang="en-US" sz="1800" dirty="0"/>
              <a:t>There may be more than one solution</a:t>
            </a:r>
          </a:p>
          <a:p>
            <a:pPr marL="457200" indent="-457200">
              <a:buAutoNum type="arabicPeriod"/>
            </a:pPr>
            <a:r>
              <a:rPr lang="en-US" sz="1800" dirty="0"/>
              <a:t>Small changes in the initial conditions lead to big changes in the solution</a:t>
            </a:r>
          </a:p>
          <a:p>
            <a:pPr marL="457200" indent="-457200">
              <a:buAutoNum type="arabicPeriod"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Inverse problems tend to be ill-posed problems. With the addition of engineering mechanics, the field of inverse mechanics has emerged.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94902F-E0B3-95F7-161A-7CAFC29CB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3307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899</TotalTime>
  <Words>249</Words>
  <Application>Microsoft Office PowerPoint</Application>
  <PresentationFormat>Widescreen</PresentationFormat>
  <Paragraphs>56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Arial</vt:lpstr>
      <vt:lpstr>Cambria Math</vt:lpstr>
      <vt:lpstr>Times New Roman</vt:lpstr>
      <vt:lpstr>Office Theme</vt:lpstr>
      <vt:lpstr>Inverse Mechanics Introduction</vt:lpstr>
      <vt:lpstr>Definitions [1]</vt:lpstr>
      <vt:lpstr>Definitions [2]</vt:lpstr>
      <vt:lpstr>Definitions [3]</vt:lpstr>
      <vt:lpstr>Definitions [4]</vt:lpstr>
      <vt:lpstr>Definitions [5]</vt:lpstr>
      <vt:lpstr>Definitions [6]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Yang, Johnson</dc:creator>
  <cp:lastModifiedBy>Yang, Johnson</cp:lastModifiedBy>
  <cp:revision>6</cp:revision>
  <dcterms:created xsi:type="dcterms:W3CDTF">2025-12-13T20:52:53Z</dcterms:created>
  <dcterms:modified xsi:type="dcterms:W3CDTF">2026-01-23T04:01:42Z</dcterms:modified>
</cp:coreProperties>
</file>