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61" r:id="rId3"/>
    <p:sldId id="269" r:id="rId4"/>
    <p:sldId id="259" r:id="rId5"/>
    <p:sldId id="264" r:id="rId6"/>
    <p:sldId id="265" r:id="rId7"/>
    <p:sldId id="266" r:id="rId8"/>
    <p:sldId id="263" r:id="rId9"/>
    <p:sldId id="262" r:id="rId10"/>
    <p:sldId id="257" r:id="rId11"/>
    <p:sldId id="258" r:id="rId12"/>
    <p:sldId id="260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, Johnson" userId="89424e7b-9fac-45cd-9016-7e93402078f1" providerId="ADAL" clId="{058A9F62-D186-4AF4-91E1-78AFFEA7CB5D}"/>
    <pc:docChg chg="addSld modSld">
      <pc:chgData name="Yang, Johnson" userId="89424e7b-9fac-45cd-9016-7e93402078f1" providerId="ADAL" clId="{058A9F62-D186-4AF4-91E1-78AFFEA7CB5D}" dt="2026-01-07T02:17:55.490" v="6" actId="680"/>
      <pc:docMkLst>
        <pc:docMk/>
      </pc:docMkLst>
      <pc:sldChg chg="modSp mod">
        <pc:chgData name="Yang, Johnson" userId="89424e7b-9fac-45cd-9016-7e93402078f1" providerId="ADAL" clId="{058A9F62-D186-4AF4-91E1-78AFFEA7CB5D}" dt="2026-01-07T02:17:48.653" v="5" actId="20577"/>
        <pc:sldMkLst>
          <pc:docMk/>
          <pc:sldMk cId="2383413940" sldId="256"/>
        </pc:sldMkLst>
        <pc:spChg chg="mod">
          <ac:chgData name="Yang, Johnson" userId="89424e7b-9fac-45cd-9016-7e93402078f1" providerId="ADAL" clId="{058A9F62-D186-4AF4-91E1-78AFFEA7CB5D}" dt="2026-01-07T02:17:48.653" v="5" actId="20577"/>
          <ac:spMkLst>
            <pc:docMk/>
            <pc:sldMk cId="2383413940" sldId="256"/>
            <ac:spMk id="3" creationId="{D4943E14-DE0D-71F7-5C56-EBBE51840036}"/>
          </ac:spMkLst>
        </pc:spChg>
      </pc:sldChg>
      <pc:sldChg chg="new">
        <pc:chgData name="Yang, Johnson" userId="89424e7b-9fac-45cd-9016-7e93402078f1" providerId="ADAL" clId="{058A9F62-D186-4AF4-91E1-78AFFEA7CB5D}" dt="2026-01-07T02:17:55.490" v="6" actId="680"/>
        <pc:sldMkLst>
          <pc:docMk/>
          <pc:sldMk cId="3825483197" sldId="258"/>
        </pc:sldMkLst>
      </pc:sldChg>
    </pc:docChg>
  </pc:docChgLst>
  <pc:docChgLst>
    <pc:chgData name="Yang, Johnson" userId="89424e7b-9fac-45cd-9016-7e93402078f1" providerId="ADAL" clId="{B180C5B1-A979-45A1-9F77-E194B361D298}"/>
    <pc:docChg chg="undo custSel addSld delSld modSld">
      <pc:chgData name="Yang, Johnson" userId="89424e7b-9fac-45cd-9016-7e93402078f1" providerId="ADAL" clId="{B180C5B1-A979-45A1-9F77-E194B361D298}" dt="2026-01-14T23:41:39.168" v="232" actId="1076"/>
      <pc:docMkLst>
        <pc:docMk/>
      </pc:docMkLst>
      <pc:sldChg chg="modSp mod">
        <pc:chgData name="Yang, Johnson" userId="89424e7b-9fac-45cd-9016-7e93402078f1" providerId="ADAL" clId="{B180C5B1-A979-45A1-9F77-E194B361D298}" dt="2026-01-14T23:38:14.530" v="213" actId="20577"/>
        <pc:sldMkLst>
          <pc:docMk/>
          <pc:sldMk cId="2455786776" sldId="257"/>
        </pc:sldMkLst>
        <pc:spChg chg="mod">
          <ac:chgData name="Yang, Johnson" userId="89424e7b-9fac-45cd-9016-7e93402078f1" providerId="ADAL" clId="{B180C5B1-A979-45A1-9F77-E194B361D298}" dt="2026-01-14T23:36:45.058" v="100" actId="20577"/>
          <ac:spMkLst>
            <pc:docMk/>
            <pc:sldMk cId="2455786776" sldId="257"/>
            <ac:spMk id="2" creationId="{9E2605ED-D038-EF3A-A4F9-DBFE434ED9F0}"/>
          </ac:spMkLst>
        </pc:spChg>
        <pc:spChg chg="mod">
          <ac:chgData name="Yang, Johnson" userId="89424e7b-9fac-45cd-9016-7e93402078f1" providerId="ADAL" clId="{B180C5B1-A979-45A1-9F77-E194B361D298}" dt="2026-01-14T23:38:14.530" v="213" actId="20577"/>
          <ac:spMkLst>
            <pc:docMk/>
            <pc:sldMk cId="2455786776" sldId="257"/>
            <ac:spMk id="3" creationId="{75D931D5-EACD-FEF6-3CF2-2D2C006EBAB6}"/>
          </ac:spMkLst>
        </pc:spChg>
      </pc:sldChg>
      <pc:sldChg chg="addSp modSp mod">
        <pc:chgData name="Yang, Johnson" userId="89424e7b-9fac-45cd-9016-7e93402078f1" providerId="ADAL" clId="{B180C5B1-A979-45A1-9F77-E194B361D298}" dt="2026-01-14T23:39:37.439" v="216" actId="1076"/>
        <pc:sldMkLst>
          <pc:docMk/>
          <pc:sldMk cId="3825483197" sldId="258"/>
        </pc:sldMkLst>
        <pc:picChg chg="add mod">
          <ac:chgData name="Yang, Johnson" userId="89424e7b-9fac-45cd-9016-7e93402078f1" providerId="ADAL" clId="{B180C5B1-A979-45A1-9F77-E194B361D298}" dt="2026-01-14T23:39:37.439" v="216" actId="1076"/>
          <ac:picMkLst>
            <pc:docMk/>
            <pc:sldMk cId="3825483197" sldId="258"/>
            <ac:picMk id="6" creationId="{AEA1D454-A526-E70C-6F26-76E204AD399A}"/>
          </ac:picMkLst>
        </pc:picChg>
      </pc:sldChg>
      <pc:sldChg chg="new del">
        <pc:chgData name="Yang, Johnson" userId="89424e7b-9fac-45cd-9016-7e93402078f1" providerId="ADAL" clId="{B180C5B1-A979-45A1-9F77-E194B361D298}" dt="2026-01-14T23:39:44.415" v="218" actId="680"/>
        <pc:sldMkLst>
          <pc:docMk/>
          <pc:sldMk cId="1703784009" sldId="259"/>
        </pc:sldMkLst>
      </pc:sldChg>
      <pc:sldChg chg="addSp delSp modSp new mod">
        <pc:chgData name="Yang, Johnson" userId="89424e7b-9fac-45cd-9016-7e93402078f1" providerId="ADAL" clId="{B180C5B1-A979-45A1-9F77-E194B361D298}" dt="2026-01-14T23:40:06.257" v="224" actId="1076"/>
        <pc:sldMkLst>
          <pc:docMk/>
          <pc:sldMk cId="3655632260" sldId="259"/>
        </pc:sldMkLst>
        <pc:picChg chg="add del">
          <ac:chgData name="Yang, Johnson" userId="89424e7b-9fac-45cd-9016-7e93402078f1" providerId="ADAL" clId="{B180C5B1-A979-45A1-9F77-E194B361D298}" dt="2026-01-14T23:39:52.807" v="221" actId="22"/>
          <ac:picMkLst>
            <pc:docMk/>
            <pc:sldMk cId="3655632260" sldId="259"/>
            <ac:picMk id="6" creationId="{CE6572C5-3799-9803-3038-E309D91C894E}"/>
          </ac:picMkLst>
        </pc:picChg>
        <pc:picChg chg="add mod">
          <ac:chgData name="Yang, Johnson" userId="89424e7b-9fac-45cd-9016-7e93402078f1" providerId="ADAL" clId="{B180C5B1-A979-45A1-9F77-E194B361D298}" dt="2026-01-14T23:40:06.257" v="224" actId="1076"/>
          <ac:picMkLst>
            <pc:docMk/>
            <pc:sldMk cId="3655632260" sldId="259"/>
            <ac:picMk id="8" creationId="{F4EAA997-D686-0F1D-D19B-785B95529E95}"/>
          </ac:picMkLst>
        </pc:picChg>
      </pc:sldChg>
      <pc:sldChg chg="addSp delSp modSp add mod">
        <pc:chgData name="Yang, Johnson" userId="89424e7b-9fac-45cd-9016-7e93402078f1" providerId="ADAL" clId="{B180C5B1-A979-45A1-9F77-E194B361D298}" dt="2026-01-14T23:41:39.168" v="232" actId="1076"/>
        <pc:sldMkLst>
          <pc:docMk/>
          <pc:sldMk cId="3177618537" sldId="260"/>
        </pc:sldMkLst>
        <pc:spChg chg="mod">
          <ac:chgData name="Yang, Johnson" userId="89424e7b-9fac-45cd-9016-7e93402078f1" providerId="ADAL" clId="{B180C5B1-A979-45A1-9F77-E194B361D298}" dt="2026-01-14T23:40:08.534" v="226" actId="27636"/>
          <ac:spMkLst>
            <pc:docMk/>
            <pc:sldMk cId="3177618537" sldId="260"/>
            <ac:spMk id="2" creationId="{DD10CA0E-F9BF-7C6F-D175-5971F7A9596E}"/>
          </ac:spMkLst>
        </pc:spChg>
        <pc:picChg chg="add mod">
          <ac:chgData name="Yang, Johnson" userId="89424e7b-9fac-45cd-9016-7e93402078f1" providerId="ADAL" clId="{B180C5B1-A979-45A1-9F77-E194B361D298}" dt="2026-01-14T23:41:39.168" v="232" actId="1076"/>
          <ac:picMkLst>
            <pc:docMk/>
            <pc:sldMk cId="3177618537" sldId="260"/>
            <ac:picMk id="6" creationId="{13CCF8AF-BFB5-F127-E393-9B26B4EBA727}"/>
          </ac:picMkLst>
        </pc:picChg>
        <pc:picChg chg="del">
          <ac:chgData name="Yang, Johnson" userId="89424e7b-9fac-45cd-9016-7e93402078f1" providerId="ADAL" clId="{B180C5B1-A979-45A1-9F77-E194B361D298}" dt="2026-01-14T23:40:09.749" v="227" actId="478"/>
          <ac:picMkLst>
            <pc:docMk/>
            <pc:sldMk cId="3177618537" sldId="260"/>
            <ac:picMk id="8" creationId="{4E92E0B2-B7AF-D7F5-7025-1733AAE525E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1F1D0A3-A730-1EE2-0EEB-262D2495859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25061B-C45A-8208-100E-BF0E11F17D9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E7365E-7303-4AD9-8FBF-4B173A7D9DE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339A9C-34F5-FD66-3D77-9201CDE56D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F96CD-00CD-B48B-0097-AC61224050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3DA9F1-9436-46C5-B488-D9A887B455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07370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2898FD-25D5-4BC2-95FB-0E9BA7ACA22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C8204A-43A9-4FC9-A2DC-0B186264B9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73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B83BF-BDE2-AA6B-8108-5E2FEF06A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284BAC-9EB8-77A5-41B2-2256C1C2A5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303387-0FE2-E564-43FF-F31A4EA26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C61C7-5442-CF50-B950-61C9BD371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95DD0-D6BE-ECED-C328-3D9B61B7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288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AE425-165E-3737-7FBE-3535CBD95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0576"/>
            <a:ext cx="10515600" cy="55547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BE21E-E51D-6080-5825-563897BD6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7797"/>
            <a:ext cx="10515600" cy="4351338"/>
          </a:xfrm>
        </p:spPr>
        <p:txBody>
          <a:bodyPr/>
          <a:lstStyle>
            <a:lvl1pPr>
              <a:defRPr sz="2400">
                <a:latin typeface="+mj-lt"/>
              </a:defRPr>
            </a:lvl1pPr>
            <a:lvl2pPr>
              <a:defRPr sz="2400">
                <a:latin typeface="+mj-lt"/>
              </a:defRPr>
            </a:lvl2pPr>
            <a:lvl3pPr>
              <a:defRPr sz="2400">
                <a:latin typeface="+mj-lt"/>
              </a:defRPr>
            </a:lvl3pPr>
            <a:lvl4pPr>
              <a:defRPr sz="2400">
                <a:latin typeface="+mj-lt"/>
              </a:defRPr>
            </a:lvl4pPr>
            <a:lvl5pPr>
              <a:defRPr sz="2400"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1A100-D645-F4E1-28E5-BBB8CA5D6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119E5-1140-09D6-FA15-514FCBB1F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A02A9-98D8-3C8C-ACD9-0CA2D0374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E20B2C0-A147-0847-3314-97EDC5BADE5B}"/>
              </a:ext>
            </a:extLst>
          </p:cNvPr>
          <p:cNvCxnSpPr>
            <a:cxnSpLocks/>
          </p:cNvCxnSpPr>
          <p:nvPr userDrawn="1"/>
        </p:nvCxnSpPr>
        <p:spPr>
          <a:xfrm>
            <a:off x="838200" y="1384420"/>
            <a:ext cx="10515600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2551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2C710-3A58-541F-9EE1-6ACC81858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A61F84-44D4-3922-AC5C-20E6DA908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866C4-1EE6-9480-9079-6BC828CF8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59E6F-0345-8A58-B119-20A255041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046EF-3C8D-3F38-4018-55D7C797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4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1D329-85DA-B07C-E12C-16C982631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8D9CE-78AE-8909-F2B1-3EDAAEF510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DBECFD-2F9A-585A-4BC8-CF76781831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36A875-1C2B-541A-32E2-4F0C76751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5D93D4-EF1C-7AD2-580C-0C219571E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75D7B-FEC2-989C-4768-48B721425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7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BA0F2-36A1-80AC-5D22-D8326E94B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6F371-5C85-6468-F30B-1E15B2F4A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D45CC8-35A8-CD17-F321-23629FA27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734A85-473C-A1D9-200C-13EBD0EDAD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78C76E-FBC9-F788-5877-472054A43F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2D9FB0-AB34-2BBB-2693-114DBDFEC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DCF88A-4C7C-8649-BB81-5FC01CEF6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408D89-152A-68C2-5CA3-1442CE7A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55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EF9F9-ED48-F962-E094-6A48ADD73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A039B6-E1A7-9842-A531-93ABD8F28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6D6013-F00F-5847-D211-7BA71116F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E32ACB-964A-65B2-8300-32F11CF87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9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7288DB-9434-9BC2-5A2D-9B12AB809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C2EEB0-C498-310B-6266-6E2255B36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8CB63-56A7-ED6C-2AF3-A1F294FB1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117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5E7A4-BE4F-4FFB-0490-0263A2E46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8E92A-391D-CF28-751B-D09BE0AF8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+mj-lt"/>
              </a:defRPr>
            </a:lvl1pPr>
            <a:lvl2pPr>
              <a:defRPr sz="2800">
                <a:latin typeface="+mj-lt"/>
              </a:defRPr>
            </a:lvl2pPr>
            <a:lvl3pPr>
              <a:defRPr sz="2400">
                <a:latin typeface="+mj-lt"/>
              </a:defRPr>
            </a:lvl3pPr>
            <a:lvl4pPr>
              <a:defRPr sz="2000">
                <a:latin typeface="+mj-lt"/>
              </a:defRPr>
            </a:lvl4pPr>
            <a:lvl5pPr>
              <a:defRPr sz="2000">
                <a:latin typeface="+mj-lt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D52035-7D78-B935-B472-ADF8CE006D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201C41-3CFF-E137-3E3D-3E3A4B37E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6B72C-605B-28F5-DBD5-FF7C2974D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3ACCC-0F6D-879E-E1C6-AA5FF405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74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EA17B-1346-132B-EB02-023D96233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DF0A36-71C8-4B8A-31BD-FA0772E627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A22865-B8C9-F842-DA8E-C3CA4C379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293E2E-BEE3-52E2-6CF0-747CF7C48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09629B-C04A-F84E-EF41-AE2633D8A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AD050-BFD6-F208-F628-E0F487662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06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EB96-440B-3C50-4E9B-16BC1F174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A82686-04C0-4E04-A82B-A50E56F87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4B44A-5310-E86D-A1A2-2394EAE8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7C07B-2854-2FDF-5F5D-2E3649C7A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A715D-8A20-D968-9E03-51D36E3C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226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867E8C-C78D-B3F4-6D4E-E88F411F35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DA8BE8-0D63-D2BA-0FEF-841F303BDF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607E0-BBC8-8A8D-B200-A8DA7D6E9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32495D-6ADF-6784-1B78-D4D5F98EE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975D2-3B17-A0D0-5A1E-F81CB2B17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635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3DA6B8-C0AC-C79E-FDC5-A2564A21B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C1698F-AD20-3E68-0D6F-597E259F6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C35D4-A9AE-C013-489D-F6428ABCAB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12/13/2025</a:t>
            </a:r>
            <a:endParaRPr lang="en-US" dirty="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D4F5E-1593-6FFE-E83C-48F26BF45D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endParaRPr lang="en-US" dirty="0"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5F2E4D-8C92-74A3-6F6C-4B433AB987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fld id="{D95F4311-C1C1-468E-90BA-469E1A493750}" type="slidenum">
              <a:rPr lang="en-US" smtClean="0"/>
              <a:pPr/>
              <a:t>‹#›</a:t>
            </a:fld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0016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5B6D4-DA63-6361-60B3-F26C1FDFF2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b="1" dirty="0"/>
              <a:t>Inverse Mechanics</a:t>
            </a:r>
            <a:br>
              <a:rPr lang="en-US" dirty="0"/>
            </a:br>
            <a:r>
              <a:rPr lang="en-US" sz="4800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943E14-DE0D-71F7-5C56-EBBE51840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/>
              <a:t>Spring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B869FF-757C-5CFB-FBEC-2D0DFEBA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413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39068-EE07-EA69-02B1-F7A8091E5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[1]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CA9273-C9AB-73FF-60FA-72A691726C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Problems Archetypes</a:t>
                </a:r>
              </a:p>
              <a:p>
                <a:r>
                  <a:rPr lang="en-US" dirty="0"/>
                  <a:t>Direct – given object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determine data</a:t>
                </a:r>
              </a:p>
              <a:p>
                <a:r>
                  <a:rPr lang="en-US" dirty="0"/>
                  <a:t>Inverse – given data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recover object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Mechanical Analysis Framework</a:t>
                </a:r>
              </a:p>
              <a:p>
                <a:r>
                  <a:rPr lang="en-US" dirty="0"/>
                  <a:t>Forward Mechanics – predicting responses from known parameters</a:t>
                </a:r>
              </a:p>
              <a:p>
                <a:r>
                  <a:rPr lang="en-US" dirty="0"/>
                  <a:t>Inverse Mechanics – predicting parameters from known responses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CA9273-C9AB-73FF-60FA-72A691726C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E9857-F4C6-AC72-D989-BB889D1C6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24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DE335-2BE5-D525-B4DE-7D48B92E1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A471F-CF8F-201C-4EAB-3696DD052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[2]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9C5E0-5DD2-6646-024E-029394D50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154FD-4831-AF41-D029-895D43E5C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650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B314A-831E-57EC-276C-6075D4EC9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[2]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3B243-6182-D01D-A787-7CBEE284C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problem is defined as </a:t>
            </a:r>
            <a:r>
              <a:rPr lang="en-US" b="1" dirty="0"/>
              <a:t>well-posed</a:t>
            </a:r>
            <a:r>
              <a:rPr lang="en-US" dirty="0"/>
              <a:t> if </a:t>
            </a:r>
            <a:r>
              <a:rPr lang="en-US" u="sng" dirty="0"/>
              <a:t>all</a:t>
            </a:r>
            <a:r>
              <a:rPr lang="en-US" dirty="0"/>
              <a:t> the following conditions hold:</a:t>
            </a:r>
            <a:endParaRPr lang="en-US" u="sng" dirty="0"/>
          </a:p>
          <a:p>
            <a:pPr marL="457200" indent="-457200">
              <a:buAutoNum type="arabicPeriod"/>
            </a:pPr>
            <a:r>
              <a:rPr lang="en-US" dirty="0"/>
              <a:t>Existence</a:t>
            </a:r>
          </a:p>
          <a:p>
            <a:pPr marL="457200" indent="-457200">
              <a:buAutoNum type="arabicPeriod"/>
            </a:pPr>
            <a:r>
              <a:rPr lang="en-US" dirty="0"/>
              <a:t>Uniqueness</a:t>
            </a:r>
          </a:p>
          <a:p>
            <a:pPr marL="457200" indent="-457200">
              <a:buAutoNum type="arabicPeriod"/>
            </a:pPr>
            <a:r>
              <a:rPr lang="en-US" dirty="0"/>
              <a:t>Stability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 any conditions do not hold, the problem is defined as </a:t>
            </a:r>
            <a:r>
              <a:rPr lang="en-US" b="1" dirty="0"/>
              <a:t>ill-posed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74E5E-D961-7725-C899-CC2F662E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322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1085-30FD-BBAD-40A8-69D72B452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E20B3-19B9-BA9A-6240-C3A1B7B74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[3]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B91C7-02DE-A9D0-305A-CE64E3F6B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A problem is defined as </a:t>
            </a:r>
            <a:r>
              <a:rPr lang="en-US" sz="1800" b="1" dirty="0"/>
              <a:t>well-posed</a:t>
            </a:r>
            <a:r>
              <a:rPr lang="en-US" sz="1800" dirty="0"/>
              <a:t> if </a:t>
            </a:r>
            <a:r>
              <a:rPr lang="en-US" sz="1800" u="sng" dirty="0"/>
              <a:t>all</a:t>
            </a:r>
            <a:r>
              <a:rPr lang="en-US" sz="1800" dirty="0"/>
              <a:t> the following conditions hold:</a:t>
            </a:r>
            <a:endParaRPr lang="en-US" sz="1800" u="sng" dirty="0"/>
          </a:p>
          <a:p>
            <a:pPr marL="457200" indent="-457200">
              <a:buAutoNum type="arabicPeriod"/>
            </a:pPr>
            <a:r>
              <a:rPr lang="en-US" sz="1800" b="1" dirty="0"/>
              <a:t>Existence</a:t>
            </a:r>
          </a:p>
          <a:p>
            <a:pPr marL="457200" indent="-457200">
              <a:buAutoNum type="arabicPeriod"/>
            </a:pPr>
            <a:r>
              <a:rPr lang="en-US" sz="1800" dirty="0"/>
              <a:t>Uniqueness</a:t>
            </a:r>
          </a:p>
          <a:p>
            <a:pPr marL="457200" indent="-457200">
              <a:buAutoNum type="arabicPeriod"/>
            </a:pPr>
            <a:r>
              <a:rPr lang="en-US" sz="1800" dirty="0"/>
              <a:t>Stability</a:t>
            </a:r>
          </a:p>
          <a:p>
            <a:pPr marL="457200" indent="-457200">
              <a:buAutoNum type="arabicPeriod"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Existence – a solution must exist for the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176B9-3C7A-0A11-3097-232FD728B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68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5B131-3CB5-D155-228D-09703719D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5EFCC-9BF6-7D4F-BE72-A216AAB7E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95358-C0B3-337C-0701-7950510AC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A problem is defined as </a:t>
            </a:r>
            <a:r>
              <a:rPr lang="en-US" sz="1800" b="1" dirty="0"/>
              <a:t>well-posed</a:t>
            </a:r>
            <a:r>
              <a:rPr lang="en-US" sz="1800" dirty="0"/>
              <a:t> if </a:t>
            </a:r>
            <a:r>
              <a:rPr lang="en-US" sz="1800" u="sng" dirty="0"/>
              <a:t>all</a:t>
            </a:r>
            <a:r>
              <a:rPr lang="en-US" sz="1800" dirty="0"/>
              <a:t> the following conditions hold:</a:t>
            </a:r>
            <a:endParaRPr lang="en-US" sz="1800" u="sng" dirty="0"/>
          </a:p>
          <a:p>
            <a:pPr marL="457200" indent="-457200">
              <a:buAutoNum type="arabicPeriod"/>
            </a:pPr>
            <a:r>
              <a:rPr lang="en-US" sz="1800" dirty="0"/>
              <a:t>Existence</a:t>
            </a:r>
          </a:p>
          <a:p>
            <a:pPr marL="457200" indent="-457200">
              <a:buAutoNum type="arabicPeriod"/>
            </a:pPr>
            <a:r>
              <a:rPr lang="en-US" sz="1800" b="1" dirty="0"/>
              <a:t>Uniqueness</a:t>
            </a:r>
          </a:p>
          <a:p>
            <a:pPr marL="457200" indent="-457200">
              <a:buAutoNum type="arabicPeriod"/>
            </a:pPr>
            <a:r>
              <a:rPr lang="en-US" sz="1800" dirty="0"/>
              <a:t>Stability</a:t>
            </a:r>
          </a:p>
          <a:p>
            <a:pPr marL="457200" indent="-457200">
              <a:buAutoNum type="arabicPeriod"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Uniqueness – one solution for each problem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E70D9D-1B79-A343-FEA2-C9DFFE464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02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7E36B-F203-DD4F-D7A7-1266C68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F4D94-A1BA-5A48-086A-CB9A31B71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D7F75-2879-CA2B-B12F-2D16365CE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A problem is defined as </a:t>
            </a:r>
            <a:r>
              <a:rPr lang="en-US" sz="1800" b="1" dirty="0"/>
              <a:t>well-posed</a:t>
            </a:r>
            <a:r>
              <a:rPr lang="en-US" sz="1800" dirty="0"/>
              <a:t> if </a:t>
            </a:r>
            <a:r>
              <a:rPr lang="en-US" sz="1800" u="sng" dirty="0"/>
              <a:t>all</a:t>
            </a:r>
            <a:r>
              <a:rPr lang="en-US" sz="1800" dirty="0"/>
              <a:t> the following conditions hold:</a:t>
            </a:r>
            <a:endParaRPr lang="en-US" sz="1800" u="sng" dirty="0"/>
          </a:p>
          <a:p>
            <a:pPr marL="457200" indent="-457200">
              <a:buAutoNum type="arabicPeriod"/>
            </a:pPr>
            <a:r>
              <a:rPr lang="en-US" sz="1800" dirty="0"/>
              <a:t>Existence</a:t>
            </a:r>
          </a:p>
          <a:p>
            <a:pPr marL="457200" indent="-457200">
              <a:buAutoNum type="arabicPeriod"/>
            </a:pPr>
            <a:r>
              <a:rPr lang="en-US" sz="1800" dirty="0"/>
              <a:t>Uniqueness</a:t>
            </a:r>
          </a:p>
          <a:p>
            <a:pPr marL="457200" indent="-457200">
              <a:buAutoNum type="arabicPeriod"/>
            </a:pPr>
            <a:r>
              <a:rPr lang="en-US" sz="1800" b="1" dirty="0"/>
              <a:t>Stability</a:t>
            </a:r>
          </a:p>
          <a:p>
            <a:pPr marL="457200" indent="-457200">
              <a:buAutoNum type="arabicPeriod"/>
            </a:pPr>
            <a:endParaRPr lang="en-US" sz="1800" b="1" dirty="0"/>
          </a:p>
          <a:p>
            <a:pPr marL="0" indent="0">
              <a:buNone/>
            </a:pPr>
            <a:r>
              <a:rPr lang="en-US" sz="1800" dirty="0"/>
              <a:t>Stability – the solution must depend continuously on the data provided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4902F-E0B3-95F7-161A-7CAFC29CB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330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C8A71-70E4-30B1-1BC3-A7A45066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[6]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5961A-1F1F-0365-BF1B-18F24058A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7E26F-6BEC-EEC4-DD61-58AFAE47B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534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BB609-AA15-A93D-43F4-AA34CF5C7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ED6B7-C471-3FEF-508D-B48157966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Forward vs. Inverse Mechanics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81B4848-D0F8-CD9A-2170-A39A47AE2B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152909"/>
              </p:ext>
            </p:extLst>
          </p:nvPr>
        </p:nvGraphicFramePr>
        <p:xfrm>
          <a:off x="838200" y="1577975"/>
          <a:ext cx="10515597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231467979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77427801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4010450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Forward Mechanics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Inverse Mechanics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1526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Fundamental 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4050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Direction of Reasoning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7364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Typical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0073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44137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80966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2D2F0-B8EB-FD81-1728-9D2D53579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91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605ED-D038-EF3A-A4F9-DBFE434ED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Math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931D5-EACD-FEF6-3CF2-2D2C006EB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rabicPeriod"/>
            </a:pPr>
            <a:r>
              <a:rPr lang="en-US" dirty="0"/>
              <a:t>Differential Equations</a:t>
            </a:r>
          </a:p>
          <a:p>
            <a:pPr marL="457200" indent="-457200">
              <a:buAutoNum type="arabicPeriod"/>
            </a:pPr>
            <a:r>
              <a:rPr lang="en-US" dirty="0"/>
              <a:t>Linear Algebra</a:t>
            </a:r>
          </a:p>
          <a:p>
            <a:pPr marL="457200" indent="-457200">
              <a:buAutoNum type="arabicPeriod"/>
            </a:pPr>
            <a:r>
              <a:rPr lang="en-US" dirty="0"/>
              <a:t>Vector Calculus</a:t>
            </a:r>
          </a:p>
          <a:p>
            <a:pPr marL="457200" indent="-457200">
              <a:buAutoNum type="arabicPeriod"/>
            </a:pPr>
            <a:r>
              <a:rPr lang="en-US" dirty="0"/>
              <a:t>Finite Elements</a:t>
            </a:r>
          </a:p>
          <a:p>
            <a:pPr marL="457200" indent="-457200">
              <a:buAutoNum type="arabicPeriod"/>
            </a:pPr>
            <a:r>
              <a:rPr lang="en-US" dirty="0"/>
              <a:t>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BA006-5308-7A59-BF22-F9894F4F4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867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D08E5-4E4D-919C-4660-589E6CFC4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43DD91-E9EE-A7A2-0C40-0FA6F01784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DC383-5973-1C72-ED80-276479CD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A1D454-A526-E70C-6F26-76E204AD39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774" y="760576"/>
            <a:ext cx="7090249" cy="5205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4831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2BF1-DD2C-92BA-F05F-7B9F01AD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0CA0E-F9BF-7C6F-D175-5971F7A95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41B08-67CF-AF22-3D3E-AC8DA6117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0FFA65-6F9F-1C94-366E-38715DDF8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CCF8AF-BFB5-F127-E393-9B26B4EBA7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333" y="547344"/>
            <a:ext cx="8081619" cy="585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185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7C757-BCAB-97A5-436D-4DA3CBCB2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635EF-2918-6BBD-FE4C-DCC2679CD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A3C3D-6C44-0084-C92C-F2D1A0178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E8BA0-D712-9D0D-7C38-3455F3736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54711B8-CC18-3D70-5792-DC71BFA5A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390" y="918812"/>
            <a:ext cx="6773220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272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9FC7F-D3E5-F60B-77BA-623E88CBD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54357-8868-6A77-ECF5-C82183006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1405B8-B2AD-8BBF-EA9C-CE484861A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02167-8072-FDD8-0D2A-007B61B2A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5ACC23-BBF4-F6CC-EC08-F54E0D98F1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416" y="690213"/>
            <a:ext cx="6935168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260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822</TotalTime>
  <Words>216</Words>
  <Application>Microsoft Office PowerPoint</Application>
  <PresentationFormat>Widescreen</PresentationFormat>
  <Paragraphs>67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Cambria Math</vt:lpstr>
      <vt:lpstr>Times New Roman</vt:lpstr>
      <vt:lpstr>Office Theme</vt:lpstr>
      <vt:lpstr>Inverse Mechanics Introduction</vt:lpstr>
      <vt:lpstr>Definitions [1]</vt:lpstr>
      <vt:lpstr>Definitions [2]</vt:lpstr>
      <vt:lpstr>Definitions [2]</vt:lpstr>
      <vt:lpstr>Definitions [3]</vt:lpstr>
      <vt:lpstr>Definitions [4]</vt:lpstr>
      <vt:lpstr>Definitions [5]</vt:lpstr>
      <vt:lpstr>Definitions [6] </vt:lpstr>
      <vt:lpstr>Forward vs. Inverse Mechanics</vt:lpstr>
      <vt:lpstr>Math Background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Yang, Johnson</dc:creator>
  <cp:lastModifiedBy>Yang, Johnson</cp:lastModifiedBy>
  <cp:revision>5</cp:revision>
  <dcterms:created xsi:type="dcterms:W3CDTF">2025-12-13T20:52:53Z</dcterms:created>
  <dcterms:modified xsi:type="dcterms:W3CDTF">2026-01-22T02:16:48Z</dcterms:modified>
</cp:coreProperties>
</file>