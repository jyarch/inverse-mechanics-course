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61" r:id="rId3"/>
    <p:sldId id="268" r:id="rId4"/>
    <p:sldId id="267" r:id="rId5"/>
    <p:sldId id="259" r:id="rId6"/>
    <p:sldId id="272" r:id="rId7"/>
    <p:sldId id="273" r:id="rId8"/>
    <p:sldId id="257" r:id="rId9"/>
    <p:sldId id="260" r:id="rId10"/>
    <p:sldId id="258" r:id="rId11"/>
    <p:sldId id="274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2393" autoAdjust="0"/>
  </p:normalViewPr>
  <p:slideViewPr>
    <p:cSldViewPr snapToGrid="0">
      <p:cViewPr varScale="1">
        <p:scale>
          <a:sx n="79" d="100"/>
          <a:sy n="79" d="100"/>
        </p:scale>
        <p:origin x="178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, Johnson" userId="89424e7b-9fac-45cd-9016-7e93402078f1" providerId="ADAL" clId="{058A9F62-D186-4AF4-91E1-78AFFEA7CB5D}"/>
    <pc:docChg chg="addSld modSld">
      <pc:chgData name="Yang, Johnson" userId="89424e7b-9fac-45cd-9016-7e93402078f1" providerId="ADAL" clId="{058A9F62-D186-4AF4-91E1-78AFFEA7CB5D}" dt="2026-01-07T02:17:55.490" v="6" actId="680"/>
      <pc:docMkLst>
        <pc:docMk/>
      </pc:docMkLst>
      <pc:sldChg chg="modSp mod">
        <pc:chgData name="Yang, Johnson" userId="89424e7b-9fac-45cd-9016-7e93402078f1" providerId="ADAL" clId="{058A9F62-D186-4AF4-91E1-78AFFEA7CB5D}" dt="2026-01-07T02:17:48.653" v="5" actId="20577"/>
        <pc:sldMkLst>
          <pc:docMk/>
          <pc:sldMk cId="2383413940" sldId="256"/>
        </pc:sldMkLst>
        <pc:spChg chg="mod">
          <ac:chgData name="Yang, Johnson" userId="89424e7b-9fac-45cd-9016-7e93402078f1" providerId="ADAL" clId="{058A9F62-D186-4AF4-91E1-78AFFEA7CB5D}" dt="2026-01-07T02:17:48.653" v="5" actId="20577"/>
          <ac:spMkLst>
            <pc:docMk/>
            <pc:sldMk cId="2383413940" sldId="256"/>
            <ac:spMk id="3" creationId="{D4943E14-DE0D-71F7-5C56-EBBE51840036}"/>
          </ac:spMkLst>
        </pc:spChg>
      </pc:sldChg>
      <pc:sldChg chg="new">
        <pc:chgData name="Yang, Johnson" userId="89424e7b-9fac-45cd-9016-7e93402078f1" providerId="ADAL" clId="{058A9F62-D186-4AF4-91E1-78AFFEA7CB5D}" dt="2026-01-07T02:17:55.490" v="6" actId="680"/>
        <pc:sldMkLst>
          <pc:docMk/>
          <pc:sldMk cId="3825483197" sldId="258"/>
        </pc:sldMkLst>
      </pc:sldChg>
    </pc:docChg>
  </pc:docChgLst>
  <pc:docChgLst>
    <pc:chgData name="Yang, Johnson" userId="89424e7b-9fac-45cd-9016-7e93402078f1" providerId="ADAL" clId="{B180C5B1-A979-45A1-9F77-E194B361D298}"/>
    <pc:docChg chg="undo custSel addSld delSld modSld">
      <pc:chgData name="Yang, Johnson" userId="89424e7b-9fac-45cd-9016-7e93402078f1" providerId="ADAL" clId="{B180C5B1-A979-45A1-9F77-E194B361D298}" dt="2026-01-14T23:41:39.168" v="232" actId="1076"/>
      <pc:docMkLst>
        <pc:docMk/>
      </pc:docMkLst>
      <pc:sldChg chg="modSp mod">
        <pc:chgData name="Yang, Johnson" userId="89424e7b-9fac-45cd-9016-7e93402078f1" providerId="ADAL" clId="{B180C5B1-A979-45A1-9F77-E194B361D298}" dt="2026-01-14T23:38:14.530" v="213" actId="20577"/>
        <pc:sldMkLst>
          <pc:docMk/>
          <pc:sldMk cId="2455786776" sldId="257"/>
        </pc:sldMkLst>
        <pc:spChg chg="mod">
          <ac:chgData name="Yang, Johnson" userId="89424e7b-9fac-45cd-9016-7e93402078f1" providerId="ADAL" clId="{B180C5B1-A979-45A1-9F77-E194B361D298}" dt="2026-01-14T23:36:45.058" v="100" actId="20577"/>
          <ac:spMkLst>
            <pc:docMk/>
            <pc:sldMk cId="2455786776" sldId="257"/>
            <ac:spMk id="2" creationId="{9E2605ED-D038-EF3A-A4F9-DBFE434ED9F0}"/>
          </ac:spMkLst>
        </pc:spChg>
        <pc:spChg chg="mod">
          <ac:chgData name="Yang, Johnson" userId="89424e7b-9fac-45cd-9016-7e93402078f1" providerId="ADAL" clId="{B180C5B1-A979-45A1-9F77-E194B361D298}" dt="2026-01-14T23:38:14.530" v="213" actId="20577"/>
          <ac:spMkLst>
            <pc:docMk/>
            <pc:sldMk cId="2455786776" sldId="257"/>
            <ac:spMk id="3" creationId="{75D931D5-EACD-FEF6-3CF2-2D2C006EBAB6}"/>
          </ac:spMkLst>
        </pc:spChg>
      </pc:sldChg>
      <pc:sldChg chg="addSp modSp mod">
        <pc:chgData name="Yang, Johnson" userId="89424e7b-9fac-45cd-9016-7e93402078f1" providerId="ADAL" clId="{B180C5B1-A979-45A1-9F77-E194B361D298}" dt="2026-01-14T23:39:37.439" v="216" actId="1076"/>
        <pc:sldMkLst>
          <pc:docMk/>
          <pc:sldMk cId="3825483197" sldId="258"/>
        </pc:sldMkLst>
        <pc:picChg chg="add mod">
          <ac:chgData name="Yang, Johnson" userId="89424e7b-9fac-45cd-9016-7e93402078f1" providerId="ADAL" clId="{B180C5B1-A979-45A1-9F77-E194B361D298}" dt="2026-01-14T23:39:37.439" v="216" actId="1076"/>
          <ac:picMkLst>
            <pc:docMk/>
            <pc:sldMk cId="3825483197" sldId="258"/>
            <ac:picMk id="6" creationId="{AEA1D454-A526-E70C-6F26-76E204AD399A}"/>
          </ac:picMkLst>
        </pc:picChg>
      </pc:sldChg>
      <pc:sldChg chg="new del">
        <pc:chgData name="Yang, Johnson" userId="89424e7b-9fac-45cd-9016-7e93402078f1" providerId="ADAL" clId="{B180C5B1-A979-45A1-9F77-E194B361D298}" dt="2026-01-14T23:39:44.415" v="218" actId="680"/>
        <pc:sldMkLst>
          <pc:docMk/>
          <pc:sldMk cId="1703784009" sldId="259"/>
        </pc:sldMkLst>
      </pc:sldChg>
      <pc:sldChg chg="addSp delSp modSp new mod">
        <pc:chgData name="Yang, Johnson" userId="89424e7b-9fac-45cd-9016-7e93402078f1" providerId="ADAL" clId="{B180C5B1-A979-45A1-9F77-E194B361D298}" dt="2026-01-14T23:40:06.257" v="224" actId="1076"/>
        <pc:sldMkLst>
          <pc:docMk/>
          <pc:sldMk cId="3655632260" sldId="259"/>
        </pc:sldMkLst>
        <pc:picChg chg="add del">
          <ac:chgData name="Yang, Johnson" userId="89424e7b-9fac-45cd-9016-7e93402078f1" providerId="ADAL" clId="{B180C5B1-A979-45A1-9F77-E194B361D298}" dt="2026-01-14T23:39:52.807" v="221" actId="22"/>
          <ac:picMkLst>
            <pc:docMk/>
            <pc:sldMk cId="3655632260" sldId="259"/>
            <ac:picMk id="6" creationId="{CE6572C5-3799-9803-3038-E309D91C894E}"/>
          </ac:picMkLst>
        </pc:picChg>
        <pc:picChg chg="add mod">
          <ac:chgData name="Yang, Johnson" userId="89424e7b-9fac-45cd-9016-7e93402078f1" providerId="ADAL" clId="{B180C5B1-A979-45A1-9F77-E194B361D298}" dt="2026-01-14T23:40:06.257" v="224" actId="1076"/>
          <ac:picMkLst>
            <pc:docMk/>
            <pc:sldMk cId="3655632260" sldId="259"/>
            <ac:picMk id="8" creationId="{F4EAA997-D686-0F1D-D19B-785B95529E95}"/>
          </ac:picMkLst>
        </pc:picChg>
      </pc:sldChg>
      <pc:sldChg chg="addSp delSp modSp add mod">
        <pc:chgData name="Yang, Johnson" userId="89424e7b-9fac-45cd-9016-7e93402078f1" providerId="ADAL" clId="{B180C5B1-A979-45A1-9F77-E194B361D298}" dt="2026-01-14T23:41:39.168" v="232" actId="1076"/>
        <pc:sldMkLst>
          <pc:docMk/>
          <pc:sldMk cId="3177618537" sldId="260"/>
        </pc:sldMkLst>
        <pc:spChg chg="mod">
          <ac:chgData name="Yang, Johnson" userId="89424e7b-9fac-45cd-9016-7e93402078f1" providerId="ADAL" clId="{B180C5B1-A979-45A1-9F77-E194B361D298}" dt="2026-01-14T23:40:08.534" v="226" actId="27636"/>
          <ac:spMkLst>
            <pc:docMk/>
            <pc:sldMk cId="3177618537" sldId="260"/>
            <ac:spMk id="2" creationId="{DD10CA0E-F9BF-7C6F-D175-5971F7A9596E}"/>
          </ac:spMkLst>
        </pc:spChg>
        <pc:picChg chg="add mod">
          <ac:chgData name="Yang, Johnson" userId="89424e7b-9fac-45cd-9016-7e93402078f1" providerId="ADAL" clId="{B180C5B1-A979-45A1-9F77-E194B361D298}" dt="2026-01-14T23:41:39.168" v="232" actId="1076"/>
          <ac:picMkLst>
            <pc:docMk/>
            <pc:sldMk cId="3177618537" sldId="260"/>
            <ac:picMk id="6" creationId="{13CCF8AF-BFB5-F127-E393-9B26B4EBA727}"/>
          </ac:picMkLst>
        </pc:picChg>
        <pc:picChg chg="del">
          <ac:chgData name="Yang, Johnson" userId="89424e7b-9fac-45cd-9016-7e93402078f1" providerId="ADAL" clId="{B180C5B1-A979-45A1-9F77-E194B361D298}" dt="2026-01-14T23:40:09.749" v="227" actId="478"/>
          <ac:picMkLst>
            <pc:docMk/>
            <pc:sldMk cId="3177618537" sldId="260"/>
            <ac:picMk id="8" creationId="{4E92E0B2-B7AF-D7F5-7025-1733AAE525E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F1D0A3-A730-1EE2-0EEB-262D2495859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5061B-C45A-8208-100E-BF0E11F17D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7365E-7303-4AD9-8FBF-4B173A7D9DED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339A9C-34F5-FD66-3D77-9201CDE56D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F96CD-00CD-B48B-0097-AC61224050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3DA9F1-9436-46C5-B488-D9A887B455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737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898FD-25D5-4BC2-95FB-0E9BA7ACA22E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C8204A-43A9-4FC9-A2DC-0B186264B9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734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335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assuming, we simplify the problem quite a bit and allows us to write a governing equation.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C8204A-43A9-4FC9-A2DC-0B186264B9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81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B83BF-BDE2-AA6B-8108-5E2FEF06A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284BAC-9EB8-77A5-41B2-2256C1C2A5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303387-0FE2-E564-43FF-F31A4EA26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C61C7-5442-CF50-B950-61C9BD371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95DD0-D6BE-ECED-C328-3D9B61B7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288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E425-165E-3737-7FBE-3535CBD95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576"/>
            <a:ext cx="10515600" cy="55547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BE21E-E51D-6080-5825-563897BD6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7797"/>
            <a:ext cx="10515600" cy="4351338"/>
          </a:xfrm>
        </p:spPr>
        <p:txBody>
          <a:bodyPr/>
          <a:lstStyle>
            <a:lvl1pPr>
              <a:defRPr sz="2400">
                <a:latin typeface="+mj-lt"/>
              </a:defRPr>
            </a:lvl1pPr>
            <a:lvl2pPr>
              <a:defRPr sz="24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400">
                <a:latin typeface="+mj-lt"/>
              </a:defRPr>
            </a:lvl4pPr>
            <a:lvl5pPr>
              <a:defRPr sz="2400"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91A100-D645-F4E1-28E5-BBB8CA5D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119E5-1140-09D6-FA15-514FCBB1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A02A9-98D8-3C8C-ACD9-0CA2D03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20B2C0-A147-0847-3314-97EDC5BADE5B}"/>
              </a:ext>
            </a:extLst>
          </p:cNvPr>
          <p:cNvCxnSpPr>
            <a:cxnSpLocks/>
          </p:cNvCxnSpPr>
          <p:nvPr userDrawn="1"/>
        </p:nvCxnSpPr>
        <p:spPr>
          <a:xfrm>
            <a:off x="838200" y="1384420"/>
            <a:ext cx="10515600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255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2C710-3A58-541F-9EE1-6ACC81858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61F84-44D4-3922-AC5C-20E6DA90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66C4-1EE6-9480-9079-6BC828CF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59E6F-0345-8A58-B119-20A255041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046EF-3C8D-3F38-4018-55D7C797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4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1D329-85DA-B07C-E12C-16C982631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8D9CE-78AE-8909-F2B1-3EDAAEF510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DBECFD-2F9A-585A-4BC8-CF76781831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36A875-1C2B-541A-32E2-4F0C76751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5D93D4-EF1C-7AD2-580C-0C219571E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75D7B-FEC2-989C-4768-48B721425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77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BA0F2-36A1-80AC-5D22-D8326E94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16F371-5C85-6468-F30B-1E15B2F4A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45CC8-35A8-CD17-F321-23629FA27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34A85-473C-A1D9-200C-13EBD0EDAD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8C76E-FBC9-F788-5877-472054A43F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2D9FB0-AB34-2BBB-2693-114DBDFEC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DCF88A-4C7C-8649-BB81-5FC01CEF6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08D89-152A-68C2-5CA3-1442CE7A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55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EF9F9-ED48-F962-E094-6A48ADD73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A039B6-E1A7-9842-A531-93ABD8F2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6D6013-F00F-5847-D211-7BA71116F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32ACB-964A-65B2-8300-32F11CF87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9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7288DB-9434-9BC2-5A2D-9B12AB80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C2EEB0-C498-310B-6266-6E2255B36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B8CB63-56A7-ED6C-2AF3-A1F294FB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117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5E7A4-BE4F-4FFB-0490-0263A2E46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8E92A-391D-CF28-751B-D09BE0AF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+mj-lt"/>
              </a:defRPr>
            </a:lvl1pPr>
            <a:lvl2pPr>
              <a:defRPr sz="2800">
                <a:latin typeface="+mj-lt"/>
              </a:defRPr>
            </a:lvl2pPr>
            <a:lvl3pPr>
              <a:defRPr sz="2400">
                <a:latin typeface="+mj-lt"/>
              </a:defRPr>
            </a:lvl3pPr>
            <a:lvl4pPr>
              <a:defRPr sz="2000">
                <a:latin typeface="+mj-lt"/>
              </a:defRPr>
            </a:lvl4pPr>
            <a:lvl5pPr>
              <a:defRPr sz="2000"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D52035-7D78-B935-B472-ADF8CE006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01C41-3CFF-E137-3E3D-3E3A4B37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6B72C-605B-28F5-DBD5-FF7C2974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3ACCC-0F6D-879E-E1C6-AA5FF405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7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EA17B-1346-132B-EB02-023D9623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DF0A36-71C8-4B8A-31BD-FA0772E627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A22865-B8C9-F842-DA8E-C3CA4C379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93E2E-BEE3-52E2-6CF0-747CF7C4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09629B-C04A-F84E-EF41-AE2633D8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AD050-BFD6-F208-F628-E0F487662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06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3EB96-440B-3C50-4E9B-16BC1F174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A82686-04C0-4E04-A82B-A50E56F87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4B44A-5310-E86D-A1A2-2394EAE8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67C07B-2854-2FDF-5F5D-2E3649C7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A715D-8A20-D968-9E03-51D36E3CA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226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867E8C-C78D-B3F4-6D4E-E88F411F35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DA8BE8-0D63-D2BA-0FEF-841F303BDF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607E0-BBC8-8A8D-B200-A8DA7D6E9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12/13/2025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2495D-6ADF-6784-1B78-D4D5F98EE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975D2-3B17-A0D0-5A1E-F81CB2B17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635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3DA6B8-C0AC-C79E-FDC5-A2564A2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C1698F-AD20-3E68-0D6F-597E259F6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C35D4-A9AE-C013-489D-F6428ABCA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12/13/2025</a:t>
            </a:r>
            <a:endParaRPr lang="en-US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4F5E-1593-6FFE-E83C-48F26BF45D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endParaRPr lang="en-US" dirty="0">
              <a:latin typeface="+mj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5F2E4D-8C92-74A3-6F6C-4B433AB987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+mj-lt"/>
              </a:defRPr>
            </a:lvl1pPr>
          </a:lstStyle>
          <a:p>
            <a:fld id="{D95F4311-C1C1-468E-90BA-469E1A493750}" type="slidenum">
              <a:rPr lang="en-US" smtClean="0"/>
              <a:pPr/>
              <a:t>‹#›</a:t>
            </a:fld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0016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5B6D4-DA63-6361-60B3-F26C1FDFF2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b="1" dirty="0"/>
              <a:t>Inverse Mechanics</a:t>
            </a:r>
            <a:br>
              <a:rPr lang="en-US" dirty="0"/>
            </a:br>
            <a:r>
              <a:rPr lang="en-US" sz="4800" dirty="0"/>
              <a:t>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943E14-DE0D-71F7-5C56-EBBE51840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Spring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869FF-757C-5CFB-FBEC-2D0DFEBA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413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9068-EE07-EA69-02B1-F7A8091E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577797"/>
                <a:ext cx="10963101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Direct problem – given object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determine data</a:t>
                </a:r>
              </a:p>
              <a:p>
                <a:r>
                  <a:rPr lang="en-US" sz="2000" dirty="0"/>
                  <a:t>Inverse problem – given data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recover object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Inverse problems involve computing an unknown quantity from observed measurements. Both the unknown quantity and observed measurement are typically related via a forward model (the direct problem).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Examples of inverse problems: image processing, structural health monitoring, tomography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CA9273-C9AB-73FF-60FA-72A691726C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577797"/>
                <a:ext cx="10963101" cy="4351338"/>
              </a:xfrm>
              <a:blipFill>
                <a:blip r:embed="rId3"/>
                <a:stretch>
                  <a:fillRect l="-556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E9857-F4C6-AC72-D989-BB889D1C6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2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613621-C9CC-D836-B1BF-467E44C4896C}"/>
              </a:ext>
            </a:extLst>
          </p:cNvPr>
          <p:cNvGrpSpPr/>
          <p:nvPr/>
        </p:nvGrpSpPr>
        <p:grpSpPr>
          <a:xfrm>
            <a:off x="7093090" y="1577797"/>
            <a:ext cx="4192531" cy="2087668"/>
            <a:chOff x="7008314" y="1577797"/>
            <a:chExt cx="4192531" cy="2087668"/>
          </a:xfrm>
        </p:grpSpPr>
        <p:sp>
          <p:nvSpPr>
            <p:cNvPr id="5" name="Arrow: Curved Down 4">
              <a:extLst>
                <a:ext uri="{FF2B5EF4-FFF2-40B4-BE49-F238E27FC236}">
                  <a16:creationId xmlns:a16="http://schemas.microsoft.com/office/drawing/2014/main" id="{25AF19CA-304A-4F3F-3ECB-39719D94DFE9}"/>
                </a:ext>
              </a:extLst>
            </p:cNvPr>
            <p:cNvSpPr/>
            <p:nvPr/>
          </p:nvSpPr>
          <p:spPr>
            <a:xfrm>
              <a:off x="7434072" y="1968972"/>
              <a:ext cx="3575304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Arrow: Curved Down 5">
              <a:extLst>
                <a:ext uri="{FF2B5EF4-FFF2-40B4-BE49-F238E27FC236}">
                  <a16:creationId xmlns:a16="http://schemas.microsoft.com/office/drawing/2014/main" id="{757F440A-2A9A-9356-A863-7BC4332CCFE4}"/>
                </a:ext>
              </a:extLst>
            </p:cNvPr>
            <p:cNvSpPr/>
            <p:nvPr/>
          </p:nvSpPr>
          <p:spPr>
            <a:xfrm rot="10800000">
              <a:off x="7434072" y="2936279"/>
              <a:ext cx="3456432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33AE04B-1F41-8BDC-1946-214AB1E196CB}"/>
                </a:ext>
              </a:extLst>
            </p:cNvPr>
            <p:cNvSpPr txBox="1"/>
            <p:nvPr/>
          </p:nvSpPr>
          <p:spPr>
            <a:xfrm>
              <a:off x="7008314" y="24478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Object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24AAE0-9360-AA82-B753-2A6BEE8C583C}"/>
                </a:ext>
              </a:extLst>
            </p:cNvPr>
            <p:cNvSpPr txBox="1"/>
            <p:nvPr/>
          </p:nvSpPr>
          <p:spPr>
            <a:xfrm>
              <a:off x="10580162" y="2436075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Data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9A1B66-C25F-48DA-70D7-DA9C35FC4C91}"/>
                </a:ext>
              </a:extLst>
            </p:cNvPr>
            <p:cNvSpPr txBox="1"/>
            <p:nvPr/>
          </p:nvSpPr>
          <p:spPr>
            <a:xfrm>
              <a:off x="8369567" y="3296133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Inverse Problem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6F27987-9610-BBDD-AF79-F6C9F1F09ECC}"/>
                </a:ext>
              </a:extLst>
            </p:cNvPr>
            <p:cNvSpPr txBox="1"/>
            <p:nvPr/>
          </p:nvSpPr>
          <p:spPr>
            <a:xfrm>
              <a:off x="8361427" y="1577797"/>
              <a:ext cx="1601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Direct Problem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32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F1783-C850-1908-FA17-A201049F5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D8B1D-58C1-763C-C86F-799487D64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1: Image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4F360-2EF2-5444-4A3F-C3384FBE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8893" y="6331554"/>
            <a:ext cx="2743200" cy="365125"/>
          </a:xfrm>
        </p:spPr>
        <p:txBody>
          <a:bodyPr/>
          <a:lstStyle/>
          <a:p>
            <a:fld id="{D95F4311-C1C1-468E-90BA-469E1A493750}" type="slidenum">
              <a:rPr lang="en-US" smtClean="0"/>
              <a:t>3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8ABC6C0-7045-B10B-5EBF-210F3CD81517}"/>
              </a:ext>
            </a:extLst>
          </p:cNvPr>
          <p:cNvGrpSpPr/>
          <p:nvPr/>
        </p:nvGrpSpPr>
        <p:grpSpPr>
          <a:xfrm>
            <a:off x="4409801" y="4837875"/>
            <a:ext cx="2743200" cy="1783894"/>
            <a:chOff x="7008314" y="1523054"/>
            <a:chExt cx="4192531" cy="2142411"/>
          </a:xfrm>
        </p:grpSpPr>
        <p:sp>
          <p:nvSpPr>
            <p:cNvPr id="5" name="Arrow: Curved Down 4">
              <a:extLst>
                <a:ext uri="{FF2B5EF4-FFF2-40B4-BE49-F238E27FC236}">
                  <a16:creationId xmlns:a16="http://schemas.microsoft.com/office/drawing/2014/main" id="{E95EF9DF-D56A-C95F-F65D-F64EAC9A08C6}"/>
                </a:ext>
              </a:extLst>
            </p:cNvPr>
            <p:cNvSpPr/>
            <p:nvPr/>
          </p:nvSpPr>
          <p:spPr>
            <a:xfrm>
              <a:off x="7434072" y="1968972"/>
              <a:ext cx="3575304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6" name="Arrow: Curved Down 5">
              <a:extLst>
                <a:ext uri="{FF2B5EF4-FFF2-40B4-BE49-F238E27FC236}">
                  <a16:creationId xmlns:a16="http://schemas.microsoft.com/office/drawing/2014/main" id="{03424C5E-1D00-CAF0-FC50-3DE63EEFE80A}"/>
                </a:ext>
              </a:extLst>
            </p:cNvPr>
            <p:cNvSpPr/>
            <p:nvPr/>
          </p:nvSpPr>
          <p:spPr>
            <a:xfrm rot="10800000">
              <a:off x="7434072" y="2936279"/>
              <a:ext cx="3456432" cy="359853"/>
            </a:xfrm>
            <a:prstGeom prst="curved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048CE3-901F-3673-F56C-BF243C63A59E}"/>
                </a:ext>
              </a:extLst>
            </p:cNvPr>
            <p:cNvSpPr txBox="1"/>
            <p:nvPr/>
          </p:nvSpPr>
          <p:spPr>
            <a:xfrm>
              <a:off x="7008314" y="2447886"/>
              <a:ext cx="8002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Object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E3B232-9853-0832-D096-F569B96AE3C0}"/>
                </a:ext>
              </a:extLst>
            </p:cNvPr>
            <p:cNvSpPr txBox="1"/>
            <p:nvPr/>
          </p:nvSpPr>
          <p:spPr>
            <a:xfrm>
              <a:off x="10580162" y="2436075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Data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15F3B5A-13C7-3935-D977-50EE285E823C}"/>
                </a:ext>
              </a:extLst>
            </p:cNvPr>
            <p:cNvSpPr txBox="1"/>
            <p:nvPr/>
          </p:nvSpPr>
          <p:spPr>
            <a:xfrm>
              <a:off x="7946778" y="3296133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Inverse Problem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0528C6-A32D-62F8-348E-2D06EBEB1DCB}"/>
                </a:ext>
              </a:extLst>
            </p:cNvPr>
            <p:cNvSpPr txBox="1"/>
            <p:nvPr/>
          </p:nvSpPr>
          <p:spPr>
            <a:xfrm>
              <a:off x="7998075" y="1523054"/>
              <a:ext cx="1601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+mj-lt"/>
                </a:rPr>
                <a:t>Direct Problem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AB4C5987-68B4-B8DC-F069-AF684E9BB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262" y="1973453"/>
            <a:ext cx="2987299" cy="29110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118202-C20A-2FA6-F23A-494013CF7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753" y="2103004"/>
            <a:ext cx="2781541" cy="278154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C33FB6A-41D9-873E-EBE0-A8DC44D1A2E4}"/>
              </a:ext>
            </a:extLst>
          </p:cNvPr>
          <p:cNvSpPr txBox="1"/>
          <p:nvPr/>
        </p:nvSpPr>
        <p:spPr>
          <a:xfrm>
            <a:off x="1855360" y="4813871"/>
            <a:ext cx="1904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j-lt"/>
              </a:rPr>
              <a:t>Object – Original Photo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02462A-EBF0-E3BA-EB18-1A59299D7925}"/>
              </a:ext>
            </a:extLst>
          </p:cNvPr>
          <p:cNvSpPr txBox="1"/>
          <p:nvPr/>
        </p:nvSpPr>
        <p:spPr>
          <a:xfrm>
            <a:off x="8431953" y="4885065"/>
            <a:ext cx="17508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j-lt"/>
              </a:rPr>
              <a:t>Data – Blurred photo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C8DFD5-4229-7462-1CBC-CB707399CA3C}"/>
              </a:ext>
            </a:extLst>
          </p:cNvPr>
          <p:cNvSpPr txBox="1"/>
          <p:nvPr/>
        </p:nvSpPr>
        <p:spPr>
          <a:xfrm>
            <a:off x="5017491" y="2906882"/>
            <a:ext cx="17059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+mj-lt"/>
              </a:rPr>
              <a:t>Gaussian blur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68B476-3996-D807-60EE-B576889007D2}"/>
              </a:ext>
            </a:extLst>
          </p:cNvPr>
          <p:cNvCxnSpPr/>
          <p:nvPr/>
        </p:nvCxnSpPr>
        <p:spPr>
          <a:xfrm>
            <a:off x="4294632" y="3227993"/>
            <a:ext cx="32461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AC881A4-39B9-7856-8A50-A825A70219BF}"/>
              </a:ext>
            </a:extLst>
          </p:cNvPr>
          <p:cNvCxnSpPr>
            <a:cxnSpLocks/>
          </p:cNvCxnSpPr>
          <p:nvPr/>
        </p:nvCxnSpPr>
        <p:spPr>
          <a:xfrm flipH="1" flipV="1">
            <a:off x="4238561" y="4223424"/>
            <a:ext cx="3263777" cy="28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F815E76-E075-959D-170B-E6B1DEE9661E}"/>
              </a:ext>
            </a:extLst>
          </p:cNvPr>
          <p:cNvSpPr txBox="1"/>
          <p:nvPr/>
        </p:nvSpPr>
        <p:spPr>
          <a:xfrm>
            <a:off x="4897265" y="3945321"/>
            <a:ext cx="19463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+mj-lt"/>
              </a:rPr>
              <a:t>Image sharpening algorithm</a:t>
            </a:r>
          </a:p>
        </p:txBody>
      </p:sp>
    </p:spTree>
    <p:extLst>
      <p:ext uri="{BB962C8B-B14F-4D97-AF65-F5344CB8AC3E}">
        <p14:creationId xmlns:p14="http://schemas.microsoft.com/office/powerpoint/2010/main" val="3541581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9D2C-D939-D479-FB22-1FFA3D967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CE479-B9CD-96CD-FD7C-5654CF995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2: An Everyday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3C1F1-B582-1F3C-5B0C-640124887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4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E64E0D-9240-85B1-827D-598C31713112}"/>
              </a:ext>
            </a:extLst>
          </p:cNvPr>
          <p:cNvSpPr txBox="1"/>
          <p:nvPr/>
        </p:nvSpPr>
        <p:spPr>
          <a:xfrm>
            <a:off x="738700" y="1490964"/>
            <a:ext cx="45191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u="sng" dirty="0">
                <a:latin typeface="+mj-lt"/>
              </a:rPr>
              <a:t>Direct Problem</a:t>
            </a:r>
            <a:r>
              <a:rPr lang="en-US" sz="1600" dirty="0">
                <a:latin typeface="+mj-lt"/>
              </a:rPr>
              <a:t>: What year were you born?</a:t>
            </a:r>
          </a:p>
          <a:p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1980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1990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2000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2003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A solution does exist, D: 2003. This solution is unique— I was not born in any other year but 2003. It is a conclusive answer.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98D926-1841-DE38-940A-E31343704E0C}"/>
              </a:ext>
            </a:extLst>
          </p:cNvPr>
          <p:cNvSpPr txBox="1"/>
          <p:nvPr/>
        </p:nvSpPr>
        <p:spPr>
          <a:xfrm>
            <a:off x="6096001" y="1490964"/>
            <a:ext cx="52578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u="sng" dirty="0">
                <a:latin typeface="+mj-lt"/>
              </a:rPr>
              <a:t>Inverse Problem</a:t>
            </a:r>
            <a:r>
              <a:rPr lang="en-US" sz="1600" dirty="0">
                <a:latin typeface="+mj-lt"/>
              </a:rPr>
              <a:t>: It was in 2003—</a:t>
            </a:r>
          </a:p>
          <a:p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I was born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Finding Nemo came out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the US invaded Iraq</a:t>
            </a:r>
          </a:p>
          <a:p>
            <a:pPr marL="342900" indent="-342900">
              <a:buAutoNum type="alphaUcPeriod"/>
            </a:pPr>
            <a:r>
              <a:rPr lang="en-US" sz="1600" dirty="0">
                <a:latin typeface="+mj-lt"/>
              </a:rPr>
              <a:t>When Lebron James was drafted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r>
              <a:rPr lang="en-US" sz="1600" dirty="0">
                <a:latin typeface="+mj-lt"/>
              </a:rPr>
              <a:t>There are many solutions to this problem. The solution is not unique as all four of these events occurred in 2003. It is an inconclusive answer that </a:t>
            </a:r>
            <a:r>
              <a:rPr lang="en-US" sz="1600" i="1" dirty="0">
                <a:latin typeface="+mj-lt"/>
              </a:rPr>
              <a:t>requires more information</a:t>
            </a:r>
            <a:r>
              <a:rPr lang="en-US" sz="1600" dirty="0">
                <a:latin typeface="+mj-lt"/>
              </a:rPr>
              <a:t>. </a:t>
            </a: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  <a:p>
            <a:pPr marL="342900" indent="-342900">
              <a:buAutoNum type="alphaUcPeriod"/>
            </a:pPr>
            <a:endParaRPr lang="en-US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08684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314A-831E-57EC-276C-6075D4EC9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Definitions [2]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B3B243-6182-D01D-A787-7CBEE284C0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i="1" u="sng" dirty="0"/>
                  <a:t>Jacques Hadamard’s Well-Posed Problem Conditions</a:t>
                </a:r>
              </a:p>
              <a:p>
                <a:pPr marL="0" indent="0">
                  <a:buNone/>
                </a:pPr>
                <a:r>
                  <a:rPr lang="en-US" sz="2000" dirty="0"/>
                  <a:t>A problem is defined as </a:t>
                </a:r>
                <a:r>
                  <a:rPr lang="en-US" sz="2000" b="1" dirty="0"/>
                  <a:t>well-posed</a:t>
                </a:r>
                <a:r>
                  <a:rPr lang="en-US" sz="2000" dirty="0"/>
                  <a:t> if </a:t>
                </a:r>
                <a:r>
                  <a:rPr lang="en-US" sz="2000" u="sng" dirty="0"/>
                  <a:t>all</a:t>
                </a:r>
                <a:r>
                  <a:rPr lang="en-US" sz="2000" dirty="0"/>
                  <a:t> the following conditions hold:</a:t>
                </a:r>
                <a:endParaRPr lang="en-US" sz="2000" u="sng" dirty="0"/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Existence – a solution must always exist for the problem</a:t>
                </a:r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Uniqueness – only one solution for each problem</a:t>
                </a:r>
              </a:p>
              <a:p>
                <a:pPr marL="457200" indent="-457200">
                  <a:buAutoNum type="arabicPeriod"/>
                </a:pPr>
                <a:r>
                  <a:rPr lang="en-US" sz="2000" dirty="0"/>
                  <a:t>Stability – small changes in the input do not influence the solution </a:t>
                </a:r>
              </a:p>
              <a:p>
                <a:pPr marL="457200" indent="-457200">
                  <a:buAutoNum type="arabicPeriod"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If any conditions do not hold, the problem is defined as </a:t>
                </a:r>
                <a:r>
                  <a:rPr lang="en-US" sz="2000" b="1" dirty="0"/>
                  <a:t>ill-posed</a:t>
                </a:r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Mathematically: input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, find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B3B243-6182-D01D-A787-7CBEE284C0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74E5E-D961-7725-C899-CC2F662E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E9A32-39D0-DB3C-5E05-C6E9EBC2C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CE18C-FF0A-B491-23FA-98F6C913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 of Well-Posed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3B766-B4A0-3DE6-DAB8-02C8030D3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1981370-4881-C219-95FD-FBFBBF3E76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=10→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there is only one value for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that solves the problem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 ;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=10+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=5+</m:t>
                    </m:r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and y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there is only one value for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800" dirty="0"/>
                  <a:t> that solves the problem ;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=6 ,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1981370-4881-C219-95FD-FBFBBF3E76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107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F647A-3EE0-6D89-8094-B6EA26B4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987CA-C243-0110-19B1-1CE10E07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Examples of Ill-Posed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D22C4-A393-B9C9-7A48-C7BECB00C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F8E1253-12A4-4990-0B7E-782116A5BC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 </a:t>
                </a:r>
                <a:r>
                  <a:rPr lang="en-US" sz="1800" dirty="0"/>
                  <a:t>- x can be solved for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/>
                  <a:t> - there is more than one value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800" dirty="0"/>
                  <a:t> that solves the problem ; infinitely many solutions</a:t>
                </a:r>
              </a:p>
              <a:p>
                <a:r>
                  <a:rPr lang="en-US" sz="1800" dirty="0"/>
                  <a:t>Examples: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0 , 10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2 , 8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 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5 , 5</m:t>
                        </m:r>
                      </m:e>
                    </m:d>
                  </m:oMath>
                </a14:m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=12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Existence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 </a:t>
                </a:r>
                <a:r>
                  <a:rPr lang="en-US" sz="1800" dirty="0"/>
                  <a:t>- x and y cannot be solved for ; if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=10→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lang="en-US" sz="1800" dirty="0"/>
                  <a:t> and vice versa</a:t>
                </a:r>
              </a:p>
              <a:p>
                <a:pPr marL="0" indent="0">
                  <a:buNone/>
                </a:pPr>
                <a:r>
                  <a:rPr lang="en-US" sz="1800" dirty="0"/>
                  <a:t>Uniqueness </a:t>
                </a:r>
                <a:r>
                  <a:rPr lang="en-US" sz="1800" dirty="0">
                    <a:solidFill>
                      <a:srgbClr val="FF0000"/>
                    </a:solidFill>
                  </a:rPr>
                  <a:t>✗</a:t>
                </a:r>
                <a:r>
                  <a:rPr lang="en-US" sz="1800" dirty="0"/>
                  <a:t> - there is no solution for this problem</a:t>
                </a:r>
              </a:p>
              <a:p>
                <a:pPr marL="0" indent="0">
                  <a:buNone/>
                </a:pPr>
                <a:r>
                  <a:rPr lang="en-US" sz="1800" dirty="0"/>
                  <a:t>Stability </a:t>
                </a:r>
                <a:r>
                  <a:rPr lang="en-US" sz="1800" dirty="0">
                    <a:solidFill>
                      <a:schemeClr val="accent6"/>
                    </a:solidFill>
                  </a:rPr>
                  <a:t>✓</a:t>
                </a:r>
                <a:r>
                  <a:rPr lang="en-US" sz="1800" dirty="0"/>
                  <a:t> - small changes in the input do not influence the solution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0F8E1253-12A4-4990-0B7E-782116A5BC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7797"/>
                <a:ext cx="10515600" cy="4778553"/>
              </a:xfrm>
              <a:blipFill>
                <a:blip r:embed="rId2"/>
                <a:stretch>
                  <a:fillRect l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29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605ED-D038-EF3A-A4F9-DBFE434ED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Example – Direct and Inverse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BA006-5308-7A59-BF22-F9894F4F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7C57D4-D053-3FA2-D7A3-DA7A25B2B1F7}"/>
                  </a:ext>
                </a:extLst>
              </p:cNvPr>
              <p:cNvSpPr txBox="1"/>
              <p:nvPr/>
            </p:nvSpPr>
            <p:spPr>
              <a:xfrm>
                <a:off x="872175" y="4317715"/>
                <a:ext cx="1478866" cy="9554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𝐸𝐼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=0.012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𝑖𝑛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7C57D4-D053-3FA2-D7A3-DA7A25B2B1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75" y="4317715"/>
                <a:ext cx="1478866" cy="9554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89D2F6-3E17-DE2E-7F1C-4EFF1886F0F5}"/>
                  </a:ext>
                </a:extLst>
              </p:cNvPr>
              <p:cNvSpPr txBox="1"/>
              <p:nvPr/>
            </p:nvSpPr>
            <p:spPr>
              <a:xfrm>
                <a:off x="738700" y="1490964"/>
                <a:ext cx="419906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u="sng" dirty="0">
                    <a:latin typeface="+mj-lt"/>
                  </a:rPr>
                  <a:t>Direct Problem</a:t>
                </a:r>
                <a:r>
                  <a:rPr lang="en-US" sz="1400" dirty="0">
                    <a:latin typeface="+mj-lt"/>
                  </a:rPr>
                  <a:t>: Given P = 1kip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latin typeface="+mj-lt"/>
                  </a:rPr>
                  <a:t>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389D2F6-3E17-DE2E-7F1C-4EFF1886F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00" y="1490964"/>
                <a:ext cx="4199060" cy="307777"/>
              </a:xfrm>
              <a:prstGeom prst="rect">
                <a:avLst/>
              </a:prstGeom>
              <a:blipFill>
                <a:blip r:embed="rId3"/>
                <a:stretch>
                  <a:fillRect l="-435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E732E19-D314-573C-02C7-3C7F65A631BC}"/>
              </a:ext>
            </a:extLst>
          </p:cNvPr>
          <p:cNvGrpSpPr/>
          <p:nvPr/>
        </p:nvGrpSpPr>
        <p:grpSpPr>
          <a:xfrm>
            <a:off x="838200" y="1995445"/>
            <a:ext cx="4228832" cy="2274428"/>
            <a:chOff x="1251331" y="1981432"/>
            <a:chExt cx="3272155" cy="1939433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E8325AE-DED3-E213-B98C-9A4E3E480D92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1EBE27E-CAE8-08A3-2C4D-2A46B6C62D77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931989D5-2FAF-31AE-6ACF-0279BEDE4A17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0F14CBA-F8AE-662F-CF4E-1B6D17206F2C}"/>
                </a:ext>
              </a:extLst>
            </p:cNvPr>
            <p:cNvCxnSpPr/>
            <p:nvPr/>
          </p:nvCxnSpPr>
          <p:spPr>
            <a:xfrm>
              <a:off x="2797315" y="2188370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D661CD-0A86-1F05-8243-BFCE8068CF65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2544661-510E-BE9A-2811-6ABFFA9A2BEE}"/>
                </a:ext>
              </a:extLst>
            </p:cNvPr>
            <p:cNvSpPr txBox="1"/>
            <p:nvPr/>
          </p:nvSpPr>
          <p:spPr>
            <a:xfrm>
              <a:off x="2692874" y="3684664"/>
              <a:ext cx="530428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 = 10ft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EDFEEE9-4719-B4E5-1D66-29738176C074}"/>
                </a:ext>
              </a:extLst>
            </p:cNvPr>
            <p:cNvSpPr txBox="1"/>
            <p:nvPr/>
          </p:nvSpPr>
          <p:spPr>
            <a:xfrm>
              <a:off x="2591957" y="1981432"/>
              <a:ext cx="701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P = 1kip</a:t>
              </a: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6F3BCA-CD29-8435-C781-AD20DA9B3B44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2">
                  <a:lumMod val="50000"/>
                  <a:lumOff val="50000"/>
                </a:schemeClr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BF41112-A617-D58F-2843-A66808D45CAA}"/>
                    </a:ext>
                  </a:extLst>
                </p:cNvPr>
                <p:cNvSpPr txBox="1"/>
                <p:nvPr/>
              </p:nvSpPr>
              <p:spPr>
                <a:xfrm>
                  <a:off x="2709843" y="3216928"/>
                  <a:ext cx="75995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2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sz="1200" b="0" i="0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=?</m:t>
                        </m:r>
                      </m:oMath>
                    </m:oMathPara>
                  </a14:m>
                  <a:endParaRPr lang="en-US" sz="1200" dirty="0"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BF41112-A617-D58F-2843-A66808D45C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9843" y="3216928"/>
                  <a:ext cx="759952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AA1EA16-884C-B146-42BE-6001089CF373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61C749F-15B5-98BF-0DA7-19827849CD80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8CBFD8-4CE9-7E51-33C1-DCEA86FD3D3F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2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72E8742-149B-EF35-A281-96D220FBCDD6}"/>
                  </a:ext>
                </a:extLst>
              </p:cNvPr>
              <p:cNvSpPr txBox="1"/>
              <p:nvPr/>
            </p:nvSpPr>
            <p:spPr>
              <a:xfrm>
                <a:off x="6575371" y="1490963"/>
                <a:ext cx="495940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u="sng" dirty="0">
                    <a:latin typeface="+mj-lt"/>
                  </a:rPr>
                  <a:t>Inverse Problem</a:t>
                </a:r>
                <a:r>
                  <a:rPr lang="en-US" sz="1400" dirty="0">
                    <a:latin typeface="+mj-lt"/>
                  </a:rPr>
                  <a:t>: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1400" dirty="0">
                    <a:latin typeface="+mj-lt"/>
                  </a:rPr>
                  <a:t> = 1in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latin typeface="+mj-lt"/>
                  </a:rPr>
                  <a:t> find P</a:t>
                </a: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72E8742-149B-EF35-A281-96D220FBC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371" y="1490963"/>
                <a:ext cx="4959401" cy="307777"/>
              </a:xfrm>
              <a:prstGeom prst="rect">
                <a:avLst/>
              </a:prstGeom>
              <a:blipFill>
                <a:blip r:embed="rId5"/>
                <a:stretch>
                  <a:fillRect l="-369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F687D328-C359-4A67-B44E-B79F060926AB}"/>
              </a:ext>
            </a:extLst>
          </p:cNvPr>
          <p:cNvGrpSpPr/>
          <p:nvPr/>
        </p:nvGrpSpPr>
        <p:grpSpPr>
          <a:xfrm>
            <a:off x="6680880" y="1962562"/>
            <a:ext cx="4228832" cy="2355153"/>
            <a:chOff x="1251331" y="1953394"/>
            <a:chExt cx="3272155" cy="2008269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F984818-77DA-38E4-ABCD-0E32043DE5E4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8EA4AAC-CD8F-C0A6-D319-F3B5D4C8A0AC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" name="Isosceles Triangle 65">
              <a:extLst>
                <a:ext uri="{FF2B5EF4-FFF2-40B4-BE49-F238E27FC236}">
                  <a16:creationId xmlns:a16="http://schemas.microsoft.com/office/drawing/2014/main" id="{CFA2031B-C92D-85DD-F287-A8ECAEE7257D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B2A66B8F-E335-FB45-A60A-B23BB6D32856}"/>
                </a:ext>
              </a:extLst>
            </p:cNvPr>
            <p:cNvCxnSpPr/>
            <p:nvPr/>
          </p:nvCxnSpPr>
          <p:spPr>
            <a:xfrm>
              <a:off x="2797315" y="2188372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4FA15A2-16FB-1ED2-F415-B895229E7419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3B60F15-4065-29D3-FDD6-D6575322FC2C}"/>
                </a:ext>
              </a:extLst>
            </p:cNvPr>
            <p:cNvSpPr txBox="1"/>
            <p:nvPr/>
          </p:nvSpPr>
          <p:spPr>
            <a:xfrm>
              <a:off x="2692874" y="3684664"/>
              <a:ext cx="61427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L=10ft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C2E441-7F9B-AF24-B56B-47E9FF3F9ACE}"/>
                </a:ext>
              </a:extLst>
            </p:cNvPr>
            <p:cNvSpPr txBox="1"/>
            <p:nvPr/>
          </p:nvSpPr>
          <p:spPr>
            <a:xfrm>
              <a:off x="2615944" y="1953394"/>
              <a:ext cx="384065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tx2">
                      <a:lumMod val="50000"/>
                      <a:lumOff val="50000"/>
                    </a:schemeClr>
                  </a:solidFill>
                  <a:latin typeface="+mj-lt"/>
                </a:rPr>
                <a:t>P = ?</a:t>
              </a: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F31DEE6-E171-28A5-0EE3-7FA96FC22B59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1"/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A5F60896-810A-7BAB-7C8D-258D04A25AAF}"/>
                    </a:ext>
                  </a:extLst>
                </p:cNvPr>
                <p:cNvSpPr txBox="1"/>
                <p:nvPr/>
              </p:nvSpPr>
              <p:spPr>
                <a:xfrm>
                  <a:off x="2773259" y="3220756"/>
                  <a:ext cx="736476" cy="2362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  <m: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in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A5F60896-810A-7BAB-7C8D-258D04A25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3259" y="3220756"/>
                  <a:ext cx="736476" cy="2362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4C6BA57-4095-D68D-45CF-C75AA8333428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6B1F8530-09BC-5B4A-2E3C-5F0B18B3039C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07106F11-AA8B-A69F-EE37-D4F4DDDAC314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DF0B13-A518-BEFF-CE6D-5EF6A76717A9}"/>
                  </a:ext>
                </a:extLst>
              </p:cNvPr>
              <p:cNvSpPr txBox="1"/>
              <p:nvPr/>
            </p:nvSpPr>
            <p:spPr>
              <a:xfrm>
                <a:off x="7033925" y="4317715"/>
                <a:ext cx="1381340" cy="9313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𝐸𝐼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400" dirty="0"/>
              </a:p>
              <a:p>
                <a:endParaRPr lang="en-US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=80.5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𝑘𝑖𝑝𝑠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8DF0B13-A518-BEFF-CE6D-5EF6A7671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925" y="4317715"/>
                <a:ext cx="1381340" cy="931345"/>
              </a:xfrm>
              <a:prstGeom prst="rect">
                <a:avLst/>
              </a:prstGeom>
              <a:blipFill>
                <a:blip r:embed="rId7"/>
                <a:stretch>
                  <a:fillRect b="-2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E98BBD-5923-AD99-68B4-92146FAF04B3}"/>
                  </a:ext>
                </a:extLst>
              </p:cNvPr>
              <p:cNvSpPr txBox="1"/>
              <p:nvPr/>
            </p:nvSpPr>
            <p:spPr>
              <a:xfrm>
                <a:off x="3809026" y="2831577"/>
                <a:ext cx="13320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E = 29,000 </a:t>
                </a:r>
                <a:r>
                  <a:rPr lang="en-US" sz="1200" dirty="0" err="1">
                    <a:latin typeface="+mj-lt"/>
                  </a:rPr>
                  <a:t>ksi</a:t>
                </a:r>
                <a:endParaRPr lang="en-US" sz="1200" dirty="0">
                  <a:latin typeface="+mj-lt"/>
                </a:endParaRPr>
              </a:p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E98BBD-5923-AD99-68B4-92146FAF0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026" y="2831577"/>
                <a:ext cx="1332056" cy="461665"/>
              </a:xfrm>
              <a:prstGeom prst="rect">
                <a:avLst/>
              </a:prstGeom>
              <a:blipFill>
                <a:blip r:embed="rId8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108676-0653-7D38-3916-9D378BBFE14D}"/>
                  </a:ext>
                </a:extLst>
              </p:cNvPr>
              <p:cNvSpPr txBox="1"/>
              <p:nvPr/>
            </p:nvSpPr>
            <p:spPr>
              <a:xfrm>
                <a:off x="9651706" y="2900839"/>
                <a:ext cx="133205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E = 29,000 </a:t>
                </a:r>
                <a:r>
                  <a:rPr lang="en-US" sz="1200" dirty="0" err="1">
                    <a:latin typeface="+mj-lt"/>
                  </a:rPr>
                  <a:t>ksi</a:t>
                </a:r>
                <a:endParaRPr lang="en-US" sz="1200" dirty="0">
                  <a:latin typeface="+mj-lt"/>
                </a:endParaRPr>
              </a:p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108676-0653-7D38-3916-9D378BBFE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1706" y="2900839"/>
                <a:ext cx="1332056" cy="461665"/>
              </a:xfrm>
              <a:prstGeom prst="rect">
                <a:avLst/>
              </a:prstGeom>
              <a:blipFill>
                <a:blip r:embed="rId9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5786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1E7E0-B8AA-30E0-9452-E9D317D14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93A7-6F8A-798D-4F96-84F964CD5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64F45-3F08-A37F-BBFB-3B98B2D8B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 direct problem has known input parameters and a forward model to compute the results. 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The inverse problem has an observed output and some input parameters— the governing equation from the forward model must be back-solved to find the missing input parameter.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Recall, Hadamard’s conditions:</a:t>
            </a:r>
          </a:p>
          <a:p>
            <a:pPr marL="342900" indent="-342900">
              <a:buAutoNum type="arabicPeriod"/>
            </a:pPr>
            <a:r>
              <a:rPr lang="en-US" sz="1600" dirty="0"/>
              <a:t>Existence – a solution exists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r>
              <a:rPr lang="en-US" sz="1600" dirty="0"/>
              <a:t>Uniqueness – only one solution per problem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r>
              <a:rPr lang="en-US" sz="1600" dirty="0"/>
              <a:t>Stability – small changes in the input do not influence the solution </a:t>
            </a:r>
            <a:r>
              <a:rPr lang="en-US" sz="1600" dirty="0">
                <a:solidFill>
                  <a:schemeClr val="accent6"/>
                </a:solidFill>
              </a:rPr>
              <a:t>✓</a:t>
            </a:r>
          </a:p>
          <a:p>
            <a:pPr marL="342900" indent="-342900">
              <a:buAutoNum type="arabicPeriod"/>
            </a:pPr>
            <a:endParaRPr lang="en-US" sz="160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sz="1600" dirty="0"/>
              <a:t>Therefore, this is a </a:t>
            </a:r>
            <a:r>
              <a:rPr lang="en-US" sz="1600" u="sng" dirty="0"/>
              <a:t>well-posed</a:t>
            </a:r>
            <a:r>
              <a:rPr lang="en-US" sz="1600" dirty="0"/>
              <a:t> direct and inverse problem. 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DED1B-281C-93F4-963B-E8B138A4A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CB4E61-06EA-0719-076A-7328358A227E}"/>
              </a:ext>
            </a:extLst>
          </p:cNvPr>
          <p:cNvGrpSpPr/>
          <p:nvPr/>
        </p:nvGrpSpPr>
        <p:grpSpPr>
          <a:xfrm>
            <a:off x="7115556" y="2783891"/>
            <a:ext cx="4238244" cy="2496312"/>
            <a:chOff x="1251331" y="1945303"/>
            <a:chExt cx="3272155" cy="19755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46970CD-574B-A52A-65DD-A20C8EE8493C}"/>
                </a:ext>
              </a:extLst>
            </p:cNvPr>
            <p:cNvCxnSpPr>
              <a:cxnSpLocks/>
            </p:cNvCxnSpPr>
            <p:nvPr/>
          </p:nvCxnSpPr>
          <p:spPr>
            <a:xfrm>
              <a:off x="1251331" y="3148491"/>
              <a:ext cx="3272155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4CA41A5-A6CB-9586-B9C9-4B9441D21820}"/>
                </a:ext>
              </a:extLst>
            </p:cNvPr>
            <p:cNvSpPr/>
            <p:nvPr/>
          </p:nvSpPr>
          <p:spPr>
            <a:xfrm>
              <a:off x="4189805" y="3148491"/>
              <a:ext cx="268785" cy="287394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F3FD6BB4-194D-40D2-04D6-EAC7DA15FFED}"/>
                </a:ext>
              </a:extLst>
            </p:cNvPr>
            <p:cNvSpPr/>
            <p:nvPr/>
          </p:nvSpPr>
          <p:spPr>
            <a:xfrm>
              <a:off x="1277620" y="3148491"/>
              <a:ext cx="246888" cy="261741"/>
            </a:xfrm>
            <a:prstGeom prst="triangle">
              <a:avLst/>
            </a:prstGeom>
            <a:solidFill>
              <a:schemeClr val="dk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68CD24F-782A-E737-FCF5-5AEB6DBB49FE}"/>
                </a:ext>
              </a:extLst>
            </p:cNvPr>
            <p:cNvCxnSpPr/>
            <p:nvPr/>
          </p:nvCxnSpPr>
          <p:spPr>
            <a:xfrm>
              <a:off x="2797315" y="2188372"/>
              <a:ext cx="0" cy="96012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9B1C93-B123-F244-F98A-51D4686C4B06}"/>
                </a:ext>
              </a:extLst>
            </p:cNvPr>
            <p:cNvCxnSpPr>
              <a:cxnSpLocks/>
            </p:cNvCxnSpPr>
            <p:nvPr/>
          </p:nvCxnSpPr>
          <p:spPr>
            <a:xfrm>
              <a:off x="1392891" y="3664365"/>
              <a:ext cx="290779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41D9579-37D5-FD3A-0D44-06BB5F1193C6}"/>
                </a:ext>
              </a:extLst>
            </p:cNvPr>
            <p:cNvSpPr txBox="1"/>
            <p:nvPr/>
          </p:nvSpPr>
          <p:spPr>
            <a:xfrm>
              <a:off x="2692874" y="3684664"/>
              <a:ext cx="216071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45FD98F-6B25-F59F-FCE8-F8743701F94B}"/>
                </a:ext>
              </a:extLst>
            </p:cNvPr>
            <p:cNvSpPr txBox="1"/>
            <p:nvPr/>
          </p:nvSpPr>
          <p:spPr>
            <a:xfrm>
              <a:off x="2693000" y="1945303"/>
              <a:ext cx="208629" cy="23620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+mj-lt"/>
                </a:rPr>
                <a:t>P</a:t>
              </a: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9238A81-58D0-40F0-5645-AB25CD644399}"/>
                </a:ext>
              </a:extLst>
            </p:cNvPr>
            <p:cNvSpPr/>
            <p:nvPr/>
          </p:nvSpPr>
          <p:spPr>
            <a:xfrm>
              <a:off x="1435608" y="3168789"/>
              <a:ext cx="2812415" cy="397404"/>
            </a:xfrm>
            <a:custGeom>
              <a:avLst/>
              <a:gdLst>
                <a:gd name="csX0" fmla="*/ 0 w 2889504"/>
                <a:gd name="csY0" fmla="*/ 18288 h 420657"/>
                <a:gd name="csX1" fmla="*/ 1399032 w 2889504"/>
                <a:gd name="csY1" fmla="*/ 420624 h 420657"/>
                <a:gd name="csX2" fmla="*/ 2889504 w 2889504"/>
                <a:gd name="csY2" fmla="*/ 0 h 4206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889504" h="420657">
                  <a:moveTo>
                    <a:pt x="0" y="18288"/>
                  </a:moveTo>
                  <a:cubicBezTo>
                    <a:pt x="458724" y="220980"/>
                    <a:pt x="917448" y="423672"/>
                    <a:pt x="1399032" y="420624"/>
                  </a:cubicBezTo>
                  <a:cubicBezTo>
                    <a:pt x="1880616" y="417576"/>
                    <a:pt x="2631948" y="92964"/>
                    <a:pt x="2889504" y="0"/>
                  </a:cubicBezTo>
                </a:path>
              </a:pathLst>
            </a:custGeom>
            <a:ln w="28575">
              <a:solidFill>
                <a:schemeClr val="tx1"/>
              </a:solidFill>
              <a:prstDash val="sysDas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A48CD03-CF4E-A788-8557-B5EDC5B50377}"/>
                    </a:ext>
                  </a:extLst>
                </p:cNvPr>
                <p:cNvSpPr txBox="1"/>
                <p:nvPr/>
              </p:nvSpPr>
              <p:spPr>
                <a:xfrm>
                  <a:off x="2773259" y="3220756"/>
                  <a:ext cx="414776" cy="2362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A48CD03-CF4E-A788-8557-B5EDC5B50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73259" y="3220756"/>
                  <a:ext cx="414776" cy="23620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AEC41B6-FDE2-94B6-8284-3986D0542D42}"/>
                </a:ext>
              </a:extLst>
            </p:cNvPr>
            <p:cNvCxnSpPr/>
            <p:nvPr/>
          </p:nvCxnSpPr>
          <p:spPr>
            <a:xfrm>
              <a:off x="139365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4FE408-A6A7-11FF-02B4-8F0B1152E5F8}"/>
                </a:ext>
              </a:extLst>
            </p:cNvPr>
            <p:cNvCxnSpPr/>
            <p:nvPr/>
          </p:nvCxnSpPr>
          <p:spPr>
            <a:xfrm>
              <a:off x="4300683" y="3560626"/>
              <a:ext cx="0" cy="2074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A14D21C-0C43-493C-6138-F0F38F2468B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2797315" y="3168789"/>
              <a:ext cx="0" cy="397373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2059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BF3F3-4395-CEEC-ABF4-F5E7416A0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A7D1-58C7-0A15-0C9F-7F252B396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A7230-4C77-DCEF-EF5D-0D29C801B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10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3AAE03C-392A-6622-B917-D78226FD79DC}"/>
              </a:ext>
            </a:extLst>
          </p:cNvPr>
          <p:cNvGrpSpPr/>
          <p:nvPr/>
        </p:nvGrpSpPr>
        <p:grpSpPr>
          <a:xfrm>
            <a:off x="6798152" y="3470168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352AE2F-73E3-3B21-1584-A2276E5654E6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E70D61D-3BA9-6B0D-4F03-E85D98AF3C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DB6F6EF-3AD9-68E3-B5CC-5F99CFBA561F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C8830986-FA06-8B67-7806-1624C2C03004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D740EC8C-D99B-21A9-B378-89D858E71012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F1D5C093-87B7-805D-3976-ADEB94F07E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547F64-4C2E-B5DF-EB35-0110984F2409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738A99-0D2A-978F-8E40-4ABD0A2E3B38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3A37CA55-F67F-7A8E-C13E-3A402695FC4C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79233F3-98B1-A932-85B8-AE73E8F32EF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C79233F3-98B1-A932-85B8-AE73E8F32E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91AD9D6-CC2A-0E2F-448A-18E8127653F6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5D34F5F5-FE59-1F76-2507-A20617E1E4AB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17185B8-618D-50E9-9F67-C3F81D35F952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EC3865A-B98A-6E65-48C9-7DCAD8440588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237397-947B-5E6A-FB57-61E3A554A58A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237397-947B-5E6A-FB57-61E3A554A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F8DB95B-DBD9-6A10-50C5-536EF41F5EAA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F8DB95B-DBD9-6A10-50C5-536EF41F5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27A57E7-0492-FBA9-6A95-D8E1FC852BE6}"/>
                  </a:ext>
                </a:extLst>
              </p:cNvPr>
              <p:cNvSpPr txBox="1"/>
              <p:nvPr/>
            </p:nvSpPr>
            <p:spPr>
              <a:xfrm>
                <a:off x="838200" y="1551557"/>
                <a:ext cx="10515600" cy="44410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+mj-lt"/>
                  </a:rPr>
                  <a:t>Problem: Find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latin typeface="+mj-lt"/>
                  </a:rPr>
                  <a:t> 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>
                    <a:latin typeface="+mj-lt"/>
                  </a:rPr>
                  <a:t> 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latin typeface="+mj-lt"/>
                  </a:rPr>
                  <a:t> </a:t>
                </a:r>
              </a:p>
              <a:p>
                <a:endParaRPr lang="en-US" dirty="0">
                  <a:latin typeface="+mj-lt"/>
                </a:endParaRPr>
              </a:p>
              <a:p>
                <a:r>
                  <a:rPr lang="en-US" u="sng" dirty="0">
                    <a:latin typeface="+mj-lt"/>
                  </a:rPr>
                  <a:t>Assume</a:t>
                </a:r>
                <a:r>
                  <a:rPr lang="en-US" dirty="0">
                    <a:latin typeface="+mj-lt"/>
                  </a:rPr>
                  <a:t> the max deflection comes as the sum of the two materials and piecewise moment functions</a:t>
                </a:r>
              </a:p>
              <a:p>
                <a:endParaRPr lang="en-US" dirty="0">
                  <a:latin typeface="+mj-lt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12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𝑖𝑛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𝑓𝑡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27A57E7-0492-FBA9-6A95-D8E1FC85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51557"/>
                <a:ext cx="10515600" cy="4441024"/>
              </a:xfrm>
              <a:prstGeom prst="rect">
                <a:avLst/>
              </a:prstGeom>
              <a:blipFill>
                <a:blip r:embed="rId6"/>
                <a:stretch>
                  <a:fillRect l="-522" t="-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D2AE75-668D-59D3-8336-FEDBD2798B65}"/>
                  </a:ext>
                </a:extLst>
              </p:cNvPr>
              <p:cNvSpPr txBox="1"/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D2AE75-668D-59D3-8336-FEDBD2798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1594" y="4539914"/>
                <a:ext cx="1332056" cy="276999"/>
              </a:xfrm>
              <a:prstGeom prst="rect">
                <a:avLst/>
              </a:prstGeom>
              <a:blipFill>
                <a:blip r:embed="rId7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6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8C43B-9418-1FD4-7B27-F04B02FFD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3F87-8095-202D-DDC1-FCBBD6DDD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2A197-8394-32FF-F502-B84628996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11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1ABEB9-8D7F-5D37-0A29-C3E857650B70}"/>
              </a:ext>
            </a:extLst>
          </p:cNvPr>
          <p:cNvGrpSpPr/>
          <p:nvPr/>
        </p:nvGrpSpPr>
        <p:grpSpPr>
          <a:xfrm>
            <a:off x="7840418" y="2497143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D77A423-F094-D0EA-04FF-00DE23CD6263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3CDDB39-01AE-4239-58F6-F61A70A9F4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B36606D-4D3F-0729-9B5D-2358C0375308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6D555C2B-B252-3C22-A55D-757750C61B48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E0EDAC83-F6C1-6C94-8D93-1A84322D5BAA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2EBE2E7-0910-E399-4793-8C527A3D8B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5DA5F48-F584-C7A7-52B1-E3B421B179A9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530428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 = 10ft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8EC577-409E-7B96-FC70-F303B52B57BC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542832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 = 1kip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1D17F65-DB34-C877-8315-1F9CEE5137AB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6A9F611-FE7B-52BA-0454-FCFDF19046AC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6A9F611-FE7B-52BA-0454-FCFDF19046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743472" cy="23620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D1CDF63-8AFD-CF23-A3D3-364CDE487258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8DE473A-E7A6-EEED-BC56-051425E9C4DA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4A97CD7-F9AB-B958-F4D6-02F9EB10DAFA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FD133A8-6785-9AEB-C013-475EBE93A6C9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DE4ABE-B6D3-DF24-9498-F93455923D8F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DE4ABE-B6D3-DF24-9498-F93455923D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F27BFFE-1F85-5343-D94F-0258CC5B50EC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0F27BFFE-1F85-5343-D94F-0258CC5B50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BD8C6A-181D-35BA-A8E4-8E8562619134}"/>
                  </a:ext>
                </a:extLst>
              </p:cNvPr>
              <p:cNvSpPr txBox="1"/>
              <p:nvPr/>
            </p:nvSpPr>
            <p:spPr>
              <a:xfrm>
                <a:off x="838200" y="1551557"/>
                <a:ext cx="6867608" cy="3484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latin typeface="+mj-lt"/>
                </a:endParaRPr>
              </a:p>
              <a:p>
                <a:endParaRPr lang="en-US" dirty="0"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There are infinitely many solutions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</a:rPr>
                  <a:t> that satisfy the equation above. </a:t>
                </a:r>
              </a:p>
              <a:p>
                <a:endParaRPr lang="en-US" dirty="0"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Recall, Hadamard’s conditions: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Existence – a solution exists </a:t>
                </a:r>
                <a:r>
                  <a:rPr lang="en-US" dirty="0">
                    <a:solidFill>
                      <a:schemeClr val="accent6"/>
                    </a:solidFill>
                    <a:latin typeface="+mj-lt"/>
                  </a:rPr>
                  <a:t>✓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Uniqueness – only one solution per problem </a:t>
                </a:r>
                <a:r>
                  <a:rPr lang="en-US" dirty="0">
                    <a:solidFill>
                      <a:srgbClr val="FF0000"/>
                    </a:solidFill>
                    <a:latin typeface="+mj-lt"/>
                  </a:rPr>
                  <a:t>✗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+mj-lt"/>
                  </a:rPr>
                  <a:t>Stability – small changes in the input do not influence the solution </a:t>
                </a:r>
                <a:r>
                  <a:rPr lang="en-US" dirty="0">
                    <a:solidFill>
                      <a:srgbClr val="FF0000"/>
                    </a:solidFill>
                    <a:latin typeface="+mj-lt"/>
                  </a:rPr>
                  <a:t>✗</a:t>
                </a:r>
                <a:endParaRPr lang="en-US" dirty="0">
                  <a:solidFill>
                    <a:schemeClr val="accent6"/>
                  </a:solidFill>
                  <a:latin typeface="+mj-lt"/>
                </a:endParaRPr>
              </a:p>
              <a:p>
                <a:endParaRPr lang="en-US" dirty="0">
                  <a:solidFill>
                    <a:schemeClr val="accent6"/>
                  </a:solidFill>
                  <a:latin typeface="+mj-lt"/>
                </a:endParaRPr>
              </a:p>
              <a:p>
                <a:r>
                  <a:rPr lang="en-US" dirty="0">
                    <a:latin typeface="+mj-lt"/>
                  </a:rPr>
                  <a:t>Even though the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ABD8C6A-181D-35BA-A8E4-8E8562619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51557"/>
                <a:ext cx="6867608" cy="3484672"/>
              </a:xfrm>
              <a:prstGeom prst="rect">
                <a:avLst/>
              </a:prstGeom>
              <a:blipFill>
                <a:blip r:embed="rId5"/>
                <a:stretch>
                  <a:fillRect l="-799" r="-266" b="-1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968E9F-816C-3997-E00B-C533F87FA4B8}"/>
                  </a:ext>
                </a:extLst>
              </p:cNvPr>
              <p:cNvSpPr txBox="1"/>
              <p:nvPr/>
            </p:nvSpPr>
            <p:spPr>
              <a:xfrm>
                <a:off x="10653324" y="3588783"/>
                <a:ext cx="13320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dirty="0">
                    <a:latin typeface="+mj-lt"/>
                  </a:rPr>
                  <a:t>I = 100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i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12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sz="12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968E9F-816C-3997-E00B-C533F87FA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3324" y="3588783"/>
                <a:ext cx="1332056" cy="276999"/>
              </a:xfrm>
              <a:prstGeom prst="rect">
                <a:avLst/>
              </a:prstGeom>
              <a:blipFill>
                <a:blip r:embed="rId6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9768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C5AE7-17CE-2389-42A3-6E2D80125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3F930-95DE-AB49-2145-6D366CD07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Simple Beam with Two Materials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4884B-D9C7-3382-FA11-A02627203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5F4311-C1C1-468E-90BA-469E1A493750}" type="slidenum">
              <a:rPr lang="en-US" smtClean="0"/>
              <a:t>12</a:t>
            </a:fld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F065E7-D85F-7470-5942-07E3173823FA}"/>
              </a:ext>
            </a:extLst>
          </p:cNvPr>
          <p:cNvGrpSpPr/>
          <p:nvPr/>
        </p:nvGrpSpPr>
        <p:grpSpPr>
          <a:xfrm>
            <a:off x="6095998" y="3023539"/>
            <a:ext cx="4144962" cy="2316797"/>
            <a:chOff x="3877215" y="3290450"/>
            <a:chExt cx="4144962" cy="231679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5ED5D21-63DD-0DFE-8FFC-0B54C54E0347}"/>
                </a:ext>
              </a:extLst>
            </p:cNvPr>
            <p:cNvGrpSpPr/>
            <p:nvPr/>
          </p:nvGrpSpPr>
          <p:grpSpPr>
            <a:xfrm>
              <a:off x="3877215" y="3290450"/>
              <a:ext cx="4144962" cy="2316797"/>
              <a:chOff x="1251331" y="1945303"/>
              <a:chExt cx="3207259" cy="1975562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3BE33CB-34B1-5C1D-0581-8F041B3EE3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51331" y="3148491"/>
                <a:ext cx="1545984" cy="0"/>
              </a:xfrm>
              <a:prstGeom prst="line">
                <a:avLst/>
              </a:prstGeom>
              <a:ln w="571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3BF22CC-3031-2525-00D3-5261B1B20D58}"/>
                  </a:ext>
                </a:extLst>
              </p:cNvPr>
              <p:cNvSpPr/>
              <p:nvPr/>
            </p:nvSpPr>
            <p:spPr>
              <a:xfrm>
                <a:off x="4189805" y="3148491"/>
                <a:ext cx="268785" cy="287394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Isosceles Triangle 7">
                <a:extLst>
                  <a:ext uri="{FF2B5EF4-FFF2-40B4-BE49-F238E27FC236}">
                    <a16:creationId xmlns:a16="http://schemas.microsoft.com/office/drawing/2014/main" id="{73613C0D-0041-E2CE-4281-F8B5FF789776}"/>
                  </a:ext>
                </a:extLst>
              </p:cNvPr>
              <p:cNvSpPr/>
              <p:nvPr/>
            </p:nvSpPr>
            <p:spPr>
              <a:xfrm>
                <a:off x="1277620" y="3148491"/>
                <a:ext cx="246888" cy="261741"/>
              </a:xfrm>
              <a:prstGeom prst="triangle">
                <a:avLst/>
              </a:prstGeom>
              <a:solidFill>
                <a:schemeClr val="dk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1C3BFB48-48BA-3CFD-58F7-E4B403CE300E}"/>
                  </a:ext>
                </a:extLst>
              </p:cNvPr>
              <p:cNvCxnSpPr/>
              <p:nvPr/>
            </p:nvCxnSpPr>
            <p:spPr>
              <a:xfrm>
                <a:off x="2797315" y="2181504"/>
                <a:ext cx="0" cy="96012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3C2DC0C-ACDE-FC80-77A2-D6AE77A7AB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2891" y="3664365"/>
                <a:ext cx="2907792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84D445-606E-E95B-D970-D4A257F416DF}"/>
                  </a:ext>
                </a:extLst>
              </p:cNvPr>
              <p:cNvSpPr txBox="1"/>
              <p:nvPr/>
            </p:nvSpPr>
            <p:spPr>
              <a:xfrm>
                <a:off x="2692874" y="3684664"/>
                <a:ext cx="216071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L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6D0A2E3-9E4D-A145-CBE8-FC0219B793C6}"/>
                  </a:ext>
                </a:extLst>
              </p:cNvPr>
              <p:cNvSpPr txBox="1"/>
              <p:nvPr/>
            </p:nvSpPr>
            <p:spPr>
              <a:xfrm>
                <a:off x="2693000" y="1945303"/>
                <a:ext cx="208629" cy="2362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+mj-lt"/>
                  </a:rPr>
                  <a:t>P</a:t>
                </a: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7810E41-3DAB-A272-DDC6-16B86C8A920E}"/>
                  </a:ext>
                </a:extLst>
              </p:cNvPr>
              <p:cNvSpPr/>
              <p:nvPr/>
            </p:nvSpPr>
            <p:spPr>
              <a:xfrm>
                <a:off x="1435608" y="3168789"/>
                <a:ext cx="2812415" cy="397404"/>
              </a:xfrm>
              <a:custGeom>
                <a:avLst/>
                <a:gdLst>
                  <a:gd name="csX0" fmla="*/ 0 w 2889504"/>
                  <a:gd name="csY0" fmla="*/ 18288 h 420657"/>
                  <a:gd name="csX1" fmla="*/ 1399032 w 2889504"/>
                  <a:gd name="csY1" fmla="*/ 420624 h 420657"/>
                  <a:gd name="csX2" fmla="*/ 2889504 w 2889504"/>
                  <a:gd name="csY2" fmla="*/ 0 h 4206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89504" h="420657">
                    <a:moveTo>
                      <a:pt x="0" y="18288"/>
                    </a:moveTo>
                    <a:cubicBezTo>
                      <a:pt x="458724" y="220980"/>
                      <a:pt x="917448" y="423672"/>
                      <a:pt x="1399032" y="420624"/>
                    </a:cubicBezTo>
                    <a:cubicBezTo>
                      <a:pt x="1880616" y="417576"/>
                      <a:pt x="2631948" y="92964"/>
                      <a:pt x="2889504" y="0"/>
                    </a:cubicBezTo>
                  </a:path>
                </a:pathLst>
              </a:custGeom>
              <a:ln w="28575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39D76540-5411-66A8-84BE-1D70192AA7C6}"/>
                      </a:ext>
                    </a:extLst>
                  </p:cNvPr>
                  <p:cNvSpPr txBox="1"/>
                  <p:nvPr/>
                </p:nvSpPr>
                <p:spPr>
                  <a:xfrm>
                    <a:off x="2773259" y="3220756"/>
                    <a:ext cx="414776" cy="2362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  <a:latin typeface="+mj-lt"/>
                    </a:endParaRPr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39D76540-5411-66A8-84BE-1D70192AA7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73259" y="3220756"/>
                    <a:ext cx="414776" cy="236201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608CB3CC-0C90-FA81-431E-7B97868AC4B7}"/>
                  </a:ext>
                </a:extLst>
              </p:cNvPr>
              <p:cNvCxnSpPr/>
              <p:nvPr/>
            </p:nvCxnSpPr>
            <p:spPr>
              <a:xfrm>
                <a:off x="139365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08653C6-608C-332B-2978-5720D6E47B9C}"/>
                  </a:ext>
                </a:extLst>
              </p:cNvPr>
              <p:cNvCxnSpPr/>
              <p:nvPr/>
            </p:nvCxnSpPr>
            <p:spPr>
              <a:xfrm>
                <a:off x="4300683" y="3560626"/>
                <a:ext cx="0" cy="20747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99468E7A-60BE-3DF8-0869-981979E2D443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2797315" y="3168789"/>
                <a:ext cx="0" cy="397373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EA85088-A89B-E209-1A48-D75BA19D1ABC}"/>
                </a:ext>
              </a:extLst>
            </p:cNvPr>
            <p:cNvCxnSpPr>
              <a:cxnSpLocks/>
            </p:cNvCxnSpPr>
            <p:nvPr/>
          </p:nvCxnSpPr>
          <p:spPr>
            <a:xfrm>
              <a:off x="5875197" y="4701462"/>
              <a:ext cx="1997982" cy="0"/>
            </a:xfrm>
            <a:prstGeom prst="line">
              <a:avLst/>
            </a:prstGeom>
            <a:ln w="571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2A9E774-EDAA-452D-7B17-90BF97103E0F}"/>
                    </a:ext>
                  </a:extLst>
                </p:cNvPr>
                <p:cNvSpPr txBox="1"/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tx2">
                          <a:lumMod val="50000"/>
                          <a:lumOff val="5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2A9E774-EDAA-452D-7B17-90BF97103E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2637" y="4403197"/>
                  <a:ext cx="683515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25477AF-41A0-F1B1-C0F1-399A93DECCA3}"/>
                    </a:ext>
                  </a:extLst>
                </p:cNvPr>
                <p:cNvSpPr txBox="1"/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sz="1200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latin typeface="+mj-lt"/>
                    </a:rPr>
                    <a:t>= ?</a:t>
                  </a: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25477AF-41A0-F1B1-C0F1-399A93DECC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2198" y="4420437"/>
                  <a:ext cx="68351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78100B-49C1-9EEC-02F6-3F94B4471611}"/>
              </a:ext>
            </a:extLst>
          </p:cNvPr>
          <p:cNvSpPr txBox="1"/>
          <p:nvPr/>
        </p:nvSpPr>
        <p:spPr>
          <a:xfrm>
            <a:off x="838199" y="1551557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Root-Finding Approach: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5F91FA-BB57-7D94-0754-6CD8AC58CDDD}"/>
                  </a:ext>
                </a:extLst>
              </p:cNvPr>
              <p:cNvSpPr txBox="1"/>
              <p:nvPr/>
            </p:nvSpPr>
            <p:spPr>
              <a:xfrm>
                <a:off x="822247" y="2002255"/>
                <a:ext cx="4427812" cy="3598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400" b="0" i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m:rPr>
                                      <m:nor/>
                                    </m:rPr>
                                    <a:rPr lang="en-US" sz="140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 ;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48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50000"/>
                  </a:lnSpc>
                </a:pPr>
                <a:r>
                  <a:rPr lang="en-US" sz="1400" dirty="0">
                    <a:latin typeface="+mj-lt"/>
                  </a:rPr>
                  <a:t>… Iterate parameters until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40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5F91FA-BB57-7D94-0754-6CD8AC58C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47" y="2002255"/>
                <a:ext cx="4427812" cy="3598677"/>
              </a:xfrm>
              <a:prstGeom prst="rect">
                <a:avLst/>
              </a:prstGeom>
              <a:blipFill>
                <a:blip r:embed="rId5"/>
                <a:stretch>
                  <a:fillRect l="-413" b="-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F53BF15-D03B-9181-9E5F-C95645A50696}"/>
                  </a:ext>
                </a:extLst>
              </p:cNvPr>
              <p:cNvSpPr txBox="1"/>
              <p:nvPr/>
            </p:nvSpPr>
            <p:spPr>
              <a:xfrm>
                <a:off x="761793" y="5794580"/>
                <a:ext cx="111447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+mj-lt"/>
                  </a:rPr>
                  <a:t>There are infinitely many solutions that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+mj-lt"/>
                  </a:rPr>
                  <a:t>, so a method for picking the best solution will be needed.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F53BF15-D03B-9181-9E5F-C95645A50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793" y="5794580"/>
                <a:ext cx="11144718" cy="369332"/>
              </a:xfrm>
              <a:prstGeom prst="rect">
                <a:avLst/>
              </a:prstGeom>
              <a:blipFill>
                <a:blip r:embed="rId6"/>
                <a:stretch>
                  <a:fillRect l="-492" t="-10000" r="-164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7586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1853</TotalTime>
  <Words>947</Words>
  <Application>Microsoft Office PowerPoint</Application>
  <PresentationFormat>Widescreen</PresentationFormat>
  <Paragraphs>180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Cambria Math</vt:lpstr>
      <vt:lpstr>Times New Roman</vt:lpstr>
      <vt:lpstr>Office Theme</vt:lpstr>
      <vt:lpstr>Inverse Mechanics Introduction</vt:lpstr>
      <vt:lpstr>Definitions [1]</vt:lpstr>
      <vt:lpstr>Example 1: Image Processing</vt:lpstr>
      <vt:lpstr>Example 2: An Everyday Problem</vt:lpstr>
      <vt:lpstr>Definitions [2]</vt:lpstr>
      <vt:lpstr>Examples of Well-Posed Problems</vt:lpstr>
      <vt:lpstr>Examples of Ill-Posed Problems</vt:lpstr>
      <vt:lpstr>Simple Beam Example – Direct and Inverse</vt:lpstr>
      <vt:lpstr>Simple Beam Problem</vt:lpstr>
      <vt:lpstr>Simple Beam with Two Materials</vt:lpstr>
      <vt:lpstr>Example: Simple Beam with Two Materials</vt:lpstr>
      <vt:lpstr>Example: Simple Beam with Two Materials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Yang, Johnson</dc:creator>
  <cp:lastModifiedBy>Yang, Johnson</cp:lastModifiedBy>
  <cp:revision>16</cp:revision>
  <dcterms:created xsi:type="dcterms:W3CDTF">2025-12-13T20:52:53Z</dcterms:created>
  <dcterms:modified xsi:type="dcterms:W3CDTF">2026-02-06T04:10:52Z</dcterms:modified>
</cp:coreProperties>
</file>